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6" r:id="rId17"/>
    <p:sldId id="268" r:id="rId19"/>
    <p:sldId id="269" r:id="rId20"/>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8" r:id="rId149"/>
    <p:sldId id="399" r:id="rId150"/>
    <p:sldId id="400" r:id="rId151"/>
    <p:sldId id="403" r:id="rId154"/>
    <p:sldId id="405" r:id="rId156"/>
    <p:sldId id="406" r:id="rId1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7"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 Id="rId76" Type="http://schemas.openxmlformats.org/officeDocument/2006/relationships/slide" Target="slides/slide63.xml"/><Relationship Id="rId77" Type="http://schemas.openxmlformats.org/officeDocument/2006/relationships/slide" Target="slides/slide64.xml"/><Relationship Id="rId78" Type="http://schemas.openxmlformats.org/officeDocument/2006/relationships/slide" Target="slides/slide65.xml"/><Relationship Id="rId79" Type="http://schemas.openxmlformats.org/officeDocument/2006/relationships/slide" Target="slides/slide66.xml"/><Relationship Id="rId80" Type="http://schemas.openxmlformats.org/officeDocument/2006/relationships/slide" Target="slides/slide67.xml"/><Relationship Id="rId81" Type="http://schemas.openxmlformats.org/officeDocument/2006/relationships/slide" Target="slides/slide68.xml"/><Relationship Id="rId82" Type="http://schemas.openxmlformats.org/officeDocument/2006/relationships/slide" Target="slides/slide69.xml"/><Relationship Id="rId83" Type="http://schemas.openxmlformats.org/officeDocument/2006/relationships/slide" Target="slides/slide70.xml"/><Relationship Id="rId84" Type="http://schemas.openxmlformats.org/officeDocument/2006/relationships/slide" Target="slides/slide71.xml"/><Relationship Id="rId85" Type="http://schemas.openxmlformats.org/officeDocument/2006/relationships/slide" Target="slides/slide72.xml"/><Relationship Id="rId86" Type="http://schemas.openxmlformats.org/officeDocument/2006/relationships/slide" Target="slides/slide73.xml"/><Relationship Id="rId87" Type="http://schemas.openxmlformats.org/officeDocument/2006/relationships/slide" Target="slides/slide74.xml"/><Relationship Id="rId88" Type="http://schemas.openxmlformats.org/officeDocument/2006/relationships/slide" Target="slides/slide75.xml"/><Relationship Id="rId89"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2" Type="http://schemas.openxmlformats.org/officeDocument/2006/relationships/slide" Target="slides/slide79.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98" Type="http://schemas.openxmlformats.org/officeDocument/2006/relationships/slide" Target="slides/slide85.xml"/><Relationship Id="rId99" Type="http://schemas.openxmlformats.org/officeDocument/2006/relationships/slide" Target="slides/slide86.xml"/><Relationship Id="rId100" Type="http://schemas.openxmlformats.org/officeDocument/2006/relationships/slide" Target="slides/slide87.xml"/><Relationship Id="rId101" Type="http://schemas.openxmlformats.org/officeDocument/2006/relationships/slide" Target="slides/slide88.xml"/><Relationship Id="rId102" Type="http://schemas.openxmlformats.org/officeDocument/2006/relationships/slide" Target="slides/slide89.xml"/><Relationship Id="rId103" Type="http://schemas.openxmlformats.org/officeDocument/2006/relationships/slide" Target="slides/slide90.xml"/><Relationship Id="rId104"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7" Type="http://schemas.openxmlformats.org/officeDocument/2006/relationships/slide" Target="slides/slide94.xml"/><Relationship Id="rId108" Type="http://schemas.openxmlformats.org/officeDocument/2006/relationships/slide" Target="slides/slide95.xml"/><Relationship Id="rId109" Type="http://schemas.openxmlformats.org/officeDocument/2006/relationships/slide" Target="slides/slide96.xml"/><Relationship Id="rId110" Type="http://schemas.openxmlformats.org/officeDocument/2006/relationships/slide" Target="slides/slide97.xml"/><Relationship Id="rId111" Type="http://schemas.openxmlformats.org/officeDocument/2006/relationships/slide" Target="slides/slide98.xml"/><Relationship Id="rId112" Type="http://schemas.openxmlformats.org/officeDocument/2006/relationships/slide" Target="slides/slide99.xml"/><Relationship Id="rId113" Type="http://schemas.openxmlformats.org/officeDocument/2006/relationships/slide" Target="slides/slide100.xml"/><Relationship Id="rId114" Type="http://schemas.openxmlformats.org/officeDocument/2006/relationships/slide" Target="slides/slide101.xml"/><Relationship Id="rId115" Type="http://schemas.openxmlformats.org/officeDocument/2006/relationships/slide" Target="slides/slide102.xml"/><Relationship Id="rId116" Type="http://schemas.openxmlformats.org/officeDocument/2006/relationships/slide" Target="slides/slide103.xml"/><Relationship Id="rId117" Type="http://schemas.openxmlformats.org/officeDocument/2006/relationships/slide" Target="slides/slide104.xml"/><Relationship Id="rId118" Type="http://schemas.openxmlformats.org/officeDocument/2006/relationships/slide" Target="slides/slide105.xml"/><Relationship Id="rId119" Type="http://schemas.openxmlformats.org/officeDocument/2006/relationships/slide" Target="slides/slide106.xml"/><Relationship Id="rId120" Type="http://schemas.openxmlformats.org/officeDocument/2006/relationships/slide" Target="slides/slide107.xml"/><Relationship Id="rId121" Type="http://schemas.openxmlformats.org/officeDocument/2006/relationships/slide" Target="slides/slide108.xml"/><Relationship Id="rId122" Type="http://schemas.openxmlformats.org/officeDocument/2006/relationships/slide" Target="slides/slide109.xml"/><Relationship Id="rId123" Type="http://schemas.openxmlformats.org/officeDocument/2006/relationships/slide" Target="slides/slide110.xml"/><Relationship Id="rId124" Type="http://schemas.openxmlformats.org/officeDocument/2006/relationships/slide" Target="slides/slide111.xml"/><Relationship Id="rId125" Type="http://schemas.openxmlformats.org/officeDocument/2006/relationships/slide" Target="slides/slide112.xml"/><Relationship Id="rId126" Type="http://schemas.openxmlformats.org/officeDocument/2006/relationships/slide" Target="slides/slide113.xml"/><Relationship Id="rId127" Type="http://schemas.openxmlformats.org/officeDocument/2006/relationships/slide" Target="slides/slide114.xml"/><Relationship Id="rId128" Type="http://schemas.openxmlformats.org/officeDocument/2006/relationships/slide" Target="slides/slide115.xml"/><Relationship Id="rId129" Type="http://schemas.openxmlformats.org/officeDocument/2006/relationships/slide" Target="slides/slide116.xml"/><Relationship Id="rId130" Type="http://schemas.openxmlformats.org/officeDocument/2006/relationships/slide" Target="slides/slide117.xml"/><Relationship Id="rId131" Type="http://schemas.openxmlformats.org/officeDocument/2006/relationships/slide" Target="slides/slide118.xml"/><Relationship Id="rId132" Type="http://schemas.openxmlformats.org/officeDocument/2006/relationships/slide" Target="slides/slide119.xml"/><Relationship Id="rId133" Type="http://schemas.openxmlformats.org/officeDocument/2006/relationships/slide" Target="slides/slide120.xml"/><Relationship Id="rId134" Type="http://schemas.openxmlformats.org/officeDocument/2006/relationships/slide" Target="slides/slide121.xml"/><Relationship Id="rId135" Type="http://schemas.openxmlformats.org/officeDocument/2006/relationships/slide" Target="slides/slide122.xml"/><Relationship Id="rId136" Type="http://schemas.openxmlformats.org/officeDocument/2006/relationships/slide" Target="slides/slide123.xml"/><Relationship Id="rId137" Type="http://schemas.openxmlformats.org/officeDocument/2006/relationships/slide" Target="slides/slide124.xml"/><Relationship Id="rId138" Type="http://schemas.openxmlformats.org/officeDocument/2006/relationships/slide" Target="slides/slide125.xml"/><Relationship Id="rId139" Type="http://schemas.openxmlformats.org/officeDocument/2006/relationships/slide" Target="slides/slide126.xml"/><Relationship Id="rId140" Type="http://schemas.openxmlformats.org/officeDocument/2006/relationships/slide" Target="slides/slide127.xml"/><Relationship Id="rId141" Type="http://schemas.openxmlformats.org/officeDocument/2006/relationships/slide" Target="slides/slide128.xml"/><Relationship Id="rId142" Type="http://schemas.openxmlformats.org/officeDocument/2006/relationships/slide" Target="slides/slide129.xml"/><Relationship Id="rId143" Type="http://schemas.openxmlformats.org/officeDocument/2006/relationships/slide" Target="slides/slide130.xml"/><Relationship Id="rId144" Type="http://schemas.openxmlformats.org/officeDocument/2006/relationships/slide" Target="slides/slide131.xml"/><Relationship Id="rId145" Type="http://schemas.openxmlformats.org/officeDocument/2006/relationships/slide" Target="slides/slide132.xml"/><Relationship Id="rId146" Type="http://schemas.openxmlformats.org/officeDocument/2006/relationships/slide" Target="slides/slide133.xml"/><Relationship Id="rId147" Type="http://schemas.openxmlformats.org/officeDocument/2006/relationships/slide" Target="slides/slide134.xml"/><Relationship Id="rId149" Type="http://schemas.openxmlformats.org/officeDocument/2006/relationships/slide" Target="slides/slide135.xml"/><Relationship Id="rId150" Type="http://schemas.openxmlformats.org/officeDocument/2006/relationships/slide" Target="slides/slide136.xml"/><Relationship Id="rId151" Type="http://schemas.openxmlformats.org/officeDocument/2006/relationships/slide" Target="slides/slide137.xml"/><Relationship Id="rId154" Type="http://schemas.openxmlformats.org/officeDocument/2006/relationships/slide" Target="slides/slide138.xml"/><Relationship Id="rId156" Type="http://schemas.openxmlformats.org/officeDocument/2006/relationships/slide" Target="slides/slide139.xml"/><Relationship Id="rId157" Type="http://schemas.openxmlformats.org/officeDocument/2006/relationships/slide" Target="slides/slide1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Weeks to first working version</c:v>
                </c:pt>
              </c:strCache>
            </c:strRef>
          </c:tx>
          <c:spPr>
            <a:solidFill>
              <a:srgbClr val="1F6FEB"/>
            </a:solidFill>
          </c:spPr>
          <c:cat>
            <c:strRef>
              <c:f>Sheet1!$A$2:$A$3</c:f>
              <c:strCache>
                <c:ptCount val="2"/>
                <c:pt idx="0">
                  <c:v>Traditional custom development</c:v>
                </c:pt>
                <c:pt idx="1">
                  <c:v>Low-code with Power Platform</c:v>
                </c:pt>
              </c:strCache>
            </c:strRef>
          </c:cat>
          <c:val>
            <c:numRef>
              <c:f>Sheet1!$B$2:$B$3</c:f>
              <c:numCache>
                <c:formatCode>0</c:formatCode>
                <c:ptCount val="2"/>
                <c:pt idx="0">
                  <c:v>16</c:v>
                </c:pt>
                <c:pt idx="1">
                  <c:v>3</c:v>
                </c:pt>
              </c:numCache>
            </c:numRef>
          </c:val>
        </c:ser>
        <c:ser>
          <c:idx val="1"/>
          <c:order val="1"/>
          <c:tx>
            <c:strRef>
              <c:f>Sheet1!$C$1</c:f>
              <c:strCache>
                <c:ptCount val="1"/>
                <c:pt idx="0">
                  <c:v>Developers required</c:v>
                </c:pt>
              </c:strCache>
            </c:strRef>
          </c:tx>
          <c:spPr>
            <a:solidFill>
              <a:srgbClr val="10B981"/>
            </a:solidFill>
          </c:spPr>
          <c:cat>
            <c:strRef>
              <c:f>Sheet1!$A$2:$A$3</c:f>
              <c:strCache>
                <c:ptCount val="2"/>
                <c:pt idx="0">
                  <c:v>Traditional custom development</c:v>
                </c:pt>
                <c:pt idx="1">
                  <c:v>Low-code with Power Platform</c:v>
                </c:pt>
              </c:strCache>
            </c:strRef>
          </c:cat>
          <c:val>
            <c:numRef>
              <c:f>Sheet1!$C$2:$C$3</c:f>
              <c:numCache>
                <c:formatCode>0</c:formatCode>
                <c:ptCount val="2"/>
                <c:pt idx="0">
                  <c:v>5</c:v>
                </c:pt>
                <c:pt idx="1">
                  <c:v>1</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Estimated cost (SGD)</c:v>
                </c:pt>
              </c:strCache>
            </c:strRef>
          </c:tx>
          <c:spPr>
            <a:solidFill>
              <a:srgbClr val="1F6FEB"/>
            </a:solidFill>
          </c:spPr>
          <c:cat>
            <c:strRef>
              <c:f>Sheet1!$A$2:$A$5</c:f>
              <c:strCache>
                <c:ptCount val="4"/>
                <c:pt idx="0">
                  <c:v>Maintenance</c:v>
                </c:pt>
                <c:pt idx="1">
                  <c:v>Equipment</c:v>
                </c:pt>
                <c:pt idx="2">
                  <c:v>Supplies</c:v>
                </c:pt>
                <c:pt idx="3">
                  <c:v>Room Setup</c:v>
                </c:pt>
              </c:strCache>
            </c:strRef>
          </c:cat>
          <c:val>
            <c:numRef>
              <c:f>Sheet1!$B$2:$B$5</c:f>
              <c:numCache>
                <c:formatCode>0</c:formatCode>
                <c:ptCount val="4"/>
                <c:pt idx="0">
                  <c:v>3200</c:v>
                </c:pt>
                <c:pt idx="1">
                  <c:v>2265</c:v>
                </c:pt>
                <c:pt idx="2">
                  <c:v>275</c:v>
                </c:pt>
                <c:pt idx="3">
                  <c:v>860</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Requests</c:v>
                </c:pt>
              </c:strCache>
            </c:strRef>
          </c:tx>
          <c:cat>
            <c:strRef>
              <c:f>Sheet1!$A$2:$A$5</c:f>
              <c:strCache>
                <c:ptCount val="4"/>
                <c:pt idx="0">
                  <c:v>Low</c:v>
                </c:pt>
                <c:pt idx="1">
                  <c:v>Medium</c:v>
                </c:pt>
                <c:pt idx="2">
                  <c:v>High</c:v>
                </c:pt>
                <c:pt idx="3">
                  <c:v>Urgent</c:v>
                </c:pt>
              </c:strCache>
            </c:strRef>
          </c:cat>
          <c:val>
            <c:numRef>
              <c:f>Sheet1!$B$2:$B$5</c:f>
              <c:numCache>
                <c:formatCode>0</c:formatCode>
                <c:ptCount val="4"/>
                <c:pt idx="0">
                  <c:v>3</c:v>
                </c:pt>
                <c:pt idx="1">
                  <c:v>4</c:v>
                </c:pt>
                <c:pt idx="2">
                  <c:v>5</c:v>
                </c:pt>
                <c:pt idx="3">
                  <c:v>2</c:v>
                </c:pt>
              </c:numCache>
            </c:numRef>
          </c:val>
        </c:ser>
        <c:dLbls>
          <c:numFmt formatCode="0" sourceLinked="0"/>
          <c:txPr>
            <a:bodyPr/>
            <a:lstStyle/>
            <a:p>
              <a:pPr>
                <a:defRPr sz="1000">
                  <a:solidFill>
                    <a:srgbClr val="161B26"/>
                  </a:solidFill>
                </a:defRPr>
              </a:pPr>
            </a:p>
          </c:txPr>
          <c:dLblPos val="outEnd"/>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100"/>
          </a:pPr>
        </a:p>
      </c:txPr>
    </c:legend>
    <c:plotVisOnly val="1"/>
    <c:dispBlanksAs val="gap"/>
    <c:showDLblsOverMax val="0"/>
  </c:chart>
  <c:txPr>
    <a:bodyPr/>
    <a:lstStyle/>
    <a:p>
      <a:pPr>
        <a:defRPr sz="1200">
          <a:solidFill>
            <a:srgbClr val="161B26"/>
          </a:solidFill>
          <a:latin typeface="Arial"/>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603504"/>
            <a:ext cx="1691640"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713232"/>
            <a:ext cx="1691640" cy="475488"/>
          </a:xfrm>
          <a:prstGeom prst="rect">
            <a:avLst/>
          </a:prstGeom>
          <a:noFill/>
        </p:spPr>
        <p:txBody>
          <a:bodyPr wrap="square" anchor="t">
            <a:spAutoFit/>
          </a:bodyPr>
          <a:lstStyle/>
          <a:p>
            <a:pPr algn="ctr">
              <a:spcAft>
                <a:spcPts val="400"/>
              </a:spcAft>
            </a:pPr>
            <a:r>
              <a:rPr sz="2000" b="1">
                <a:solidFill>
                  <a:srgbClr val="FFFFFF"/>
                </a:solidFill>
                <a:latin typeface="Arial"/>
              </a:rPr>
              <a:t>PL-900</a:t>
            </a:r>
          </a:p>
        </p:txBody>
      </p:sp>
      <p:sp>
        <p:nvSpPr>
          <p:cNvPr id="8" name="TextBox 7"/>
          <p:cNvSpPr txBox="1"/>
          <p:nvPr/>
        </p:nvSpPr>
        <p:spPr>
          <a:xfrm>
            <a:off x="9829800" y="1207008"/>
            <a:ext cx="1691640" cy="365760"/>
          </a:xfrm>
          <a:prstGeom prst="rect">
            <a:avLst/>
          </a:prstGeom>
          <a:noFill/>
        </p:spPr>
        <p:txBody>
          <a:bodyPr wrap="square" anchor="t">
            <a:spAutoFit/>
          </a:bodyPr>
          <a:lstStyle/>
          <a:p>
            <a:pPr algn="ctr">
              <a:spcAft>
                <a:spcPts val="400"/>
              </a:spcAft>
            </a:pPr>
            <a:r>
              <a:rPr sz="800" b="1">
                <a:solidFill>
                  <a:srgbClr val="FFFFFF"/>
                </a:solidFill>
                <a:latin typeface="Arial"/>
              </a:rPr>
              <a:t>POWER PLATFORM</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NON-WSQ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PL-900 Microsoft Power Platform Fundamentals Training</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C1358</a:t>
            </a:r>
          </a:p>
          <a:p>
            <a:r>
              <a:rPr sz="1600" b="0">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1 September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Microsoft Power Platform, low-code application development, data analytics and cloud solutions.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Courses on Power Platform, Power BI, Microsoft Azure and business intelligence.</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your organisation and your role.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Your background</a:t>
            </a:r>
          </a:p>
          <a:p>
            <a:pPr algn="l">
              <a:spcAft>
                <a:spcPts val="300"/>
              </a:spcAft>
            </a:pPr>
            <a:r>
              <a:rPr sz="1300" b="0">
                <a:solidFill>
                  <a:srgbClr val="5B6372"/>
                </a:solidFill>
                <a:latin typeface="Arial"/>
              </a:rPr>
              <a:t>Your experience with Excel, SharePoint, Power BI or any low-code tool — if any.</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What you want</a:t>
            </a:r>
          </a:p>
          <a:p>
            <a:pPr algn="l">
              <a:spcAft>
                <a:spcPts val="300"/>
              </a:spcAft>
            </a:pPr>
            <a:r>
              <a:rPr sz="1300" b="0">
                <a:solidFill>
                  <a:srgbClr val="5B6372"/>
                </a:solidFill>
                <a:latin typeface="Arial"/>
              </a:rPr>
              <a:t>One manual process in your work you would like to automate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Full attendance — attend both days to get the most from the course.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r>
              <a:rPr sz="1600" b="1">
                <a:latin typeface="Arial"/>
              </a:rPr>
              <a:t>Select 'PL-900 Microsoft Power Platform Fundamentals Training'.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labs</a:t>
            </a:r>
          </a:p>
          <a:p>
            <a:pPr algn="l">
              <a:spcAft>
                <a:spcPts val="300"/>
              </a:spcAft>
            </a:pPr>
            <a:r>
              <a:rPr sz="1200" b="0">
                <a:solidFill>
                  <a:srgbClr val="5B6372"/>
                </a:solidFill>
                <a:latin typeface="Arial"/>
              </a:rPr>
              <a:t>Clone the lab repository from GitHub — the link is on the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You may refer to these materials throughout the course.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 – 5:30pm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 7.5 instructional hours per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Session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Day 1 — foundations, Dataverse and apps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Day 2 — automation, analytics and agents</a:t>
            </a:r>
          </a:p>
        </p:txBody>
      </p:sp>
      <p:sp>
        <p:nvSpPr>
          <p:cNvPr id="13" name="Rectangle 12"/>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Morning (9:30)</a:t>
            </a:r>
          </a:p>
        </p:txBody>
      </p:sp>
      <p:sp>
        <p:nvSpPr>
          <p:cNvPr id="15" name="Rectangle 14"/>
          <p:cNvSpPr/>
          <p:nvPr/>
        </p:nvSpPr>
        <p:spPr>
          <a:xfrm>
            <a:off x="3542202"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Introductions · ground rules · course outline</a:t>
            </a:r>
          </a:p>
        </p:txBody>
      </p:sp>
      <p:sp>
        <p:nvSpPr>
          <p:cNvPr id="17" name="Rectangle 16"/>
          <p:cNvSpPr/>
          <p:nvPr/>
        </p:nvSpPr>
        <p:spPr>
          <a:xfrm>
            <a:off x="7476957"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Day 1 recap and Q&amp;A</a:t>
            </a:r>
          </a:p>
        </p:txBody>
      </p:sp>
      <p:sp>
        <p:nvSpPr>
          <p:cNvPr id="19" name="Rectangle 18"/>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Morning block</a:t>
            </a:r>
          </a:p>
        </p:txBody>
      </p:sp>
      <p:sp>
        <p:nvSpPr>
          <p:cNvPr id="21" name="Rectangle 20"/>
          <p:cNvSpPr/>
          <p:nvPr/>
        </p:nvSpPr>
        <p:spPr>
          <a:xfrm>
            <a:off x="3542202"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Topic 1: Microsoft Power Platform (Labs 1–2)</a:t>
            </a:r>
          </a:p>
        </p:txBody>
      </p:sp>
      <p:sp>
        <p:nvSpPr>
          <p:cNvPr id="23" name="Rectangle 22"/>
          <p:cNvSpPr/>
          <p:nvPr/>
        </p:nvSpPr>
        <p:spPr>
          <a:xfrm>
            <a:off x="7476957"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Topic 3 continues (Labs 7–8)</a:t>
            </a:r>
          </a:p>
        </p:txBody>
      </p:sp>
      <p:sp>
        <p:nvSpPr>
          <p:cNvPr id="25" name="Rectangle 24"/>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Late morning</a:t>
            </a:r>
          </a:p>
        </p:txBody>
      </p:sp>
      <p:sp>
        <p:nvSpPr>
          <p:cNvPr id="27" name="Rectangle 26"/>
          <p:cNvSpPr/>
          <p:nvPr/>
        </p:nvSpPr>
        <p:spPr>
          <a:xfrm>
            <a:off x="3542202"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Topic 2: Dataverse (Labs 3–5)</a:t>
            </a:r>
          </a:p>
        </p:txBody>
      </p:sp>
      <p:sp>
        <p:nvSpPr>
          <p:cNvPr id="29" name="Rectangle 28"/>
          <p:cNvSpPr/>
          <p:nvPr/>
        </p:nvSpPr>
        <p:spPr>
          <a:xfrm>
            <a:off x="7476957"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Topic 4: Power Automate (Labs 9–11)</a:t>
            </a:r>
          </a:p>
        </p:txBody>
      </p:sp>
      <p:sp>
        <p:nvSpPr>
          <p:cNvPr id="31" name="Rectangle 30"/>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Lunch (12:35)</a:t>
            </a:r>
          </a:p>
        </p:txBody>
      </p:sp>
      <p:sp>
        <p:nvSpPr>
          <p:cNvPr id="33" name="Rectangle 32"/>
          <p:cNvSpPr/>
          <p:nvPr/>
        </p:nvSpPr>
        <p:spPr>
          <a:xfrm>
            <a:off x="3542202"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30-minute lunch break</a:t>
            </a:r>
          </a:p>
        </p:txBody>
      </p:sp>
      <p:sp>
        <p:nvSpPr>
          <p:cNvPr id="35" name="Rectangle 34"/>
          <p:cNvSpPr/>
          <p:nvPr/>
        </p:nvSpPr>
        <p:spPr>
          <a:xfrm>
            <a:off x="7476957"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30-minute lunch break</a:t>
            </a:r>
          </a:p>
        </p:txBody>
      </p:sp>
      <p:sp>
        <p:nvSpPr>
          <p:cNvPr id="37" name="Rectangle 3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Afternoon</a:t>
            </a:r>
          </a:p>
        </p:txBody>
      </p:sp>
      <p:sp>
        <p:nvSpPr>
          <p:cNvPr id="39" name="Rectangle 38"/>
          <p:cNvSpPr/>
          <p:nvPr/>
        </p:nvSpPr>
        <p:spPr>
          <a:xfrm>
            <a:off x="3542202"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Topic 2 labs continue</a:t>
            </a:r>
          </a:p>
        </p:txBody>
      </p:sp>
      <p:sp>
        <p:nvSpPr>
          <p:cNvPr id="41" name="Rectangle 40"/>
          <p:cNvSpPr/>
          <p:nvPr/>
        </p:nvSpPr>
        <p:spPr>
          <a:xfrm>
            <a:off x="7476957"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Topic 5: Power BI (Labs 12–13)</a:t>
            </a:r>
          </a:p>
        </p:txBody>
      </p:sp>
      <p:sp>
        <p:nvSpPr>
          <p:cNvPr id="43" name="Rectangle 42"/>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Late afternoon</a:t>
            </a:r>
          </a:p>
        </p:txBody>
      </p:sp>
      <p:sp>
        <p:nvSpPr>
          <p:cNvPr id="45" name="Rectangle 44"/>
          <p:cNvSpPr/>
          <p:nvPr/>
        </p:nvSpPr>
        <p:spPr>
          <a:xfrm>
            <a:off x="3542202"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Topic 3: Power Apps (Lab 6)</a:t>
            </a:r>
          </a:p>
        </p:txBody>
      </p:sp>
      <p:sp>
        <p:nvSpPr>
          <p:cNvPr id="47" name="Rectangle 46"/>
          <p:cNvSpPr/>
          <p:nvPr/>
        </p:nvSpPr>
        <p:spPr>
          <a:xfrm>
            <a:off x="7476957"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Topic 6: Copilot Studio (Labs 14–15)</a:t>
            </a:r>
          </a:p>
        </p:txBody>
      </p:sp>
      <p:sp>
        <p:nvSpPr>
          <p:cNvPr id="49" name="Rectangle 48"/>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Close</a:t>
            </a:r>
          </a:p>
        </p:txBody>
      </p:sp>
      <p:sp>
        <p:nvSpPr>
          <p:cNvPr id="51" name="Rectangle 50"/>
          <p:cNvSpPr/>
          <p:nvPr/>
        </p:nvSpPr>
        <p:spPr>
          <a:xfrm>
            <a:off x="3542202"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Day 1 recap and Q&amp;A</a:t>
            </a:r>
          </a:p>
        </p:txBody>
      </p:sp>
      <p:sp>
        <p:nvSpPr>
          <p:cNvPr id="53" name="Rectangle 52"/>
          <p:cNvSpPr/>
          <p:nvPr/>
        </p:nvSpPr>
        <p:spPr>
          <a:xfrm>
            <a:off x="7476957"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Course recap, exam preparation guidance and feedback</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Each day runs 9:30am to 5:30pm — 7.5 instructional hours of teaching and hands-on labs, plus a 30-minute lunch break.</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TOPICS  ·  15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1 — Introduction to Microsoft Power Platform</a:t>
            </a:r>
          </a:p>
          <a:p>
            <a:pPr algn="l">
              <a:spcAft>
                <a:spcPts val="300"/>
              </a:spcAft>
            </a:pPr>
            <a:r>
              <a:rPr sz="1100" b="0">
                <a:solidFill>
                  <a:srgbClr val="5B6372"/>
                </a:solidFill>
                <a:latin typeface="Arial"/>
              </a:rPr>
              <a:t>Business value · connectors · DLP, compliance, privacy and accessibility.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2 — Introduction to Dataverse</a:t>
            </a:r>
          </a:p>
          <a:p>
            <a:pPr algn="l">
              <a:spcAft>
                <a:spcPts val="300"/>
              </a:spcAft>
            </a:pPr>
            <a:r>
              <a:rPr sz="1100" b="0">
                <a:solidFill>
                  <a:srgbClr val="5B6372"/>
                </a:solidFill>
                <a:latin typeface="Arial"/>
              </a:rPr>
              <a:t>Tables, columns, relationships · environments · business rules · administration.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3 — Introduction to Power Apps</a:t>
            </a:r>
          </a:p>
          <a:p>
            <a:pPr algn="l">
              <a:spcAft>
                <a:spcPts val="300"/>
              </a:spcAft>
            </a:pPr>
            <a:r>
              <a:rPr sz="1100" b="0">
                <a:solidFill>
                  <a:srgbClr val="5B6372"/>
                </a:solidFill>
                <a:latin typeface="Arial"/>
              </a:rPr>
              <a:t>Canvas apps · model-driven apps · Copilot-assisted app creation.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4 — Introduction to Power Automate</a:t>
            </a:r>
          </a:p>
          <a:p>
            <a:pPr algn="l">
              <a:spcAft>
                <a:spcPts val="300"/>
              </a:spcAft>
            </a:pPr>
            <a:r>
              <a:rPr sz="1100" b="0">
                <a:solidFill>
                  <a:srgbClr val="5B6372"/>
                </a:solidFill>
                <a:latin typeface="Arial"/>
              </a:rPr>
              <a:t>Cloud, desktop and business process flows · triggers, actions, approvals.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5 — Introduction to Power BI</a:t>
            </a:r>
          </a:p>
          <a:p>
            <a:pPr algn="l">
              <a:spcAft>
                <a:spcPts val="300"/>
              </a:spcAft>
            </a:pPr>
            <a:r>
              <a:rPr sz="1100" b="0">
                <a:solidFill>
                  <a:srgbClr val="5B6372"/>
                </a:solidFill>
                <a:latin typeface="Arial"/>
              </a:rPr>
              <a:t>Connect, transform, model, visualise · dashboards and sharing.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6 — Power Virtual Agents / Copilot Studio</a:t>
            </a:r>
          </a:p>
          <a:p>
            <a:pPr algn="l">
              <a:spcAft>
                <a:spcPts val="300"/>
              </a:spcAft>
            </a:pPr>
            <a:r>
              <a:rPr sz="1100" b="0">
                <a:solidFill>
                  <a:srgbClr val="5B6372"/>
                </a:solidFill>
                <a:latin typeface="Arial"/>
              </a:rPr>
              <a:t>Agents, topics, knowledge, tools · publishing and troubleshooting.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RUNNING SCENARIO  ·  CONTOSO CORPORATION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Contoso Case Study — one scenario, fifteen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Store facility request</a:t>
            </a:r>
          </a:p>
          <a:p>
            <a:pPr algn="l">
              <a:spcAft>
                <a:spcPts val="300"/>
              </a:spcAft>
            </a:pPr>
            <a:r>
              <a:rPr sz="1100" b="0">
                <a:solidFill>
                  <a:srgbClr val="5B6372"/>
                </a:solidFill>
                <a:latin typeface="Arial"/>
              </a:rPr>
              <a:t>Store facility request and room data in a structured, secure way.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Let employees submit</a:t>
            </a:r>
          </a:p>
          <a:p>
            <a:pPr algn="l">
              <a:spcAft>
                <a:spcPts val="300"/>
              </a:spcAft>
            </a:pPr>
            <a:r>
              <a:rPr sz="1100" b="0">
                <a:solidFill>
                  <a:srgbClr val="5B6372"/>
                </a:solidFill>
                <a:latin typeface="Arial"/>
              </a:rPr>
              <a:t>Let employees submit requests from a phone and let coordinators manage them on a desktop.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Notify the facilities</a:t>
            </a:r>
          </a:p>
          <a:p>
            <a:pPr algn="l">
              <a:spcAft>
                <a:spcPts val="300"/>
              </a:spcAft>
            </a:pPr>
            <a:r>
              <a:rPr sz="1100" b="0">
                <a:solidFill>
                  <a:srgbClr val="5B6372"/>
                </a:solidFill>
                <a:latin typeface="Arial"/>
              </a:rPr>
              <a:t>Notify the facilities team automatically when a high-priority request arrives.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Report on request</a:t>
            </a:r>
          </a:p>
          <a:p>
            <a:pPr algn="l">
              <a:spcAft>
                <a:spcPts val="300"/>
              </a:spcAft>
            </a:pPr>
            <a:r>
              <a:rPr sz="1100" b="0">
                <a:solidFill>
                  <a:srgbClr val="5B6372"/>
                </a:solidFill>
                <a:latin typeface="Arial"/>
              </a:rPr>
              <a:t>Report on request volume, cost and turnaround time for management.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Answer common facilities</a:t>
            </a:r>
          </a:p>
          <a:p>
            <a:pPr algn="l">
              <a:spcAft>
                <a:spcPts val="300"/>
              </a:spcAft>
            </a:pPr>
            <a:r>
              <a:rPr sz="1100" b="0">
                <a:solidFill>
                  <a:srgbClr val="5B6372"/>
                </a:solidFill>
                <a:latin typeface="Arial"/>
              </a:rPr>
              <a:t>Answer common facilities questions with a self-service agent.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Govern the whole</a:t>
            </a:r>
          </a:p>
          <a:p>
            <a:pPr algn="l">
              <a:spcAft>
                <a:spcPts val="300"/>
              </a:spcAft>
            </a:pPr>
            <a:r>
              <a:rPr sz="1100" b="0">
                <a:solidFill>
                  <a:srgbClr val="5B6372"/>
                </a:solidFill>
                <a:latin typeface="Arial"/>
              </a:rPr>
              <a:t>Govern the whole thing with environments, DLP policies and solution-based ALM.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FIVE PORTALS  ·  ONE ENVIRONMENT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Lab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Apps maker portal</a:t>
            </a:r>
          </a:p>
          <a:p>
            <a:pPr algn="l">
              <a:spcAft>
                <a:spcPts val="300"/>
              </a:spcAft>
            </a:pPr>
            <a:r>
              <a:rPr sz="1100" b="0">
                <a:solidFill>
                  <a:srgbClr val="5B6372"/>
                </a:solidFill>
                <a:latin typeface="Arial"/>
              </a:rPr>
              <a:t>make.powerapps.com — build tables, canvas apps and model-driven apps.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Automate</a:t>
            </a:r>
          </a:p>
          <a:p>
            <a:pPr algn="l">
              <a:spcAft>
                <a:spcPts val="300"/>
              </a:spcAft>
            </a:pPr>
            <a:r>
              <a:rPr sz="1100" b="0">
                <a:solidFill>
                  <a:srgbClr val="5B6372"/>
                </a:solidFill>
                <a:latin typeface="Arial"/>
              </a:rPr>
              <a:t>make.powerautomate.com — build cloud flows, approvals and desktop flows.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BI</a:t>
            </a:r>
          </a:p>
          <a:p>
            <a:pPr algn="l">
              <a:spcAft>
                <a:spcPts val="300"/>
              </a:spcAft>
            </a:pPr>
            <a:r>
              <a:rPr sz="1100" b="0">
                <a:solidFill>
                  <a:srgbClr val="5B6372"/>
                </a:solidFill>
                <a:latin typeface="Arial"/>
              </a:rPr>
              <a:t>app.powerbi.com plus Power BI Desktop — model, visualise, publish and share.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Copilot Studio</a:t>
            </a:r>
          </a:p>
          <a:p>
            <a:pPr algn="l">
              <a:spcAft>
                <a:spcPts val="300"/>
              </a:spcAft>
            </a:pPr>
            <a:r>
              <a:rPr sz="1100" b="0">
                <a:solidFill>
                  <a:srgbClr val="5B6372"/>
                </a:solidFill>
                <a:latin typeface="Arial"/>
              </a:rPr>
              <a:t>copilotstudio.microsoft.com — build, publish and monitor agents.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Platform admin center</a:t>
            </a:r>
          </a:p>
          <a:p>
            <a:pPr algn="l">
              <a:spcAft>
                <a:spcPts val="300"/>
              </a:spcAft>
            </a:pPr>
            <a:r>
              <a:rPr sz="1100" b="0">
                <a:solidFill>
                  <a:srgbClr val="5B6372"/>
                </a:solidFill>
                <a:latin typeface="Arial"/>
              </a:rPr>
              <a:t>admin.powerplatform.microsoft.com — environments, DLP and analytics.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Lab files on GitHub</a:t>
            </a:r>
          </a:p>
          <a:p>
            <a:pPr algn="l">
              <a:spcAft>
                <a:spcPts val="300"/>
              </a:spcAft>
            </a:pPr>
            <a:r>
              <a:rPr sz="1100" b="0">
                <a:solidFill>
                  <a:srgbClr val="5B6372"/>
                </a:solidFill>
                <a:latin typeface="Arial"/>
              </a:rPr>
              <a:t>Mock data, worksheets and step-by-step instructions for all 15 labs.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Microsoft Power Platform</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Business value · connectors · DLP, compliance, privacy and accessibility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K1, K3 · A1,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Introduction to Microsoft Power Platform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Power Platform is</a:t>
            </a:r>
          </a:p>
          <a:p>
            <a:pPr algn="l">
              <a:spcAft>
                <a:spcPts val="300"/>
              </a:spcAft>
            </a:pPr>
            <a:r>
              <a:rPr sz="1100" b="0">
                <a:solidFill>
                  <a:srgbClr val="5B6372"/>
                </a:solidFill>
                <a:latin typeface="Arial"/>
              </a:rPr>
              <a:t>A low-code suite — Power Apps, Power Automate, Power BI, Copilot Studio and Power Pages — sitting on Dataverse and 1,400+ connectors so business users build solutions without writing traditional code.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exists</a:t>
            </a:r>
          </a:p>
          <a:p>
            <a:pPr algn="l">
              <a:spcAft>
                <a:spcPts val="300"/>
              </a:spcAft>
            </a:pPr>
            <a:r>
              <a:rPr sz="1100" b="0">
                <a:solidFill>
                  <a:srgbClr val="5B6372"/>
                </a:solidFill>
                <a:latin typeface="Arial"/>
              </a:rPr>
              <a:t>Changing workforce expectations, the rising cost of custom development, and the need to be agile and scale delivery without growing the developer headcount.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Middleware role (K1)</a:t>
            </a:r>
          </a:p>
          <a:p>
            <a:pPr algn="l">
              <a:spcAft>
                <a:spcPts val="300"/>
              </a:spcAft>
            </a:pPr>
            <a:r>
              <a:rPr sz="1100" b="0">
                <a:solidFill>
                  <a:srgbClr val="5B6372"/>
                </a:solidFill>
                <a:latin typeface="Arial"/>
              </a:rPr>
              <a:t>Power Platform acts as integration middleware: connectors, Dataverse and flows sit between systems that were never designed to talk to each other.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Platform types (K3)</a:t>
            </a:r>
          </a:p>
          <a:p>
            <a:pPr algn="l">
              <a:spcAft>
                <a:spcPts val="300"/>
              </a:spcAft>
            </a:pPr>
            <a:r>
              <a:rPr sz="1100" b="0">
                <a:solidFill>
                  <a:srgbClr val="5B6372"/>
                </a:solidFill>
                <a:latin typeface="Arial"/>
              </a:rPr>
              <a:t>Solutions run across web, mobile, desktop and Teams — the same app and data model surface on every platform without a rewrite.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Connectors</a:t>
            </a:r>
          </a:p>
          <a:p>
            <a:pPr algn="l">
              <a:spcAft>
                <a:spcPts val="300"/>
              </a:spcAft>
            </a:pPr>
            <a:r>
              <a:rPr sz="1100" b="0">
                <a:solidFill>
                  <a:srgbClr val="5B6372"/>
                </a:solidFill>
                <a:latin typeface="Arial"/>
              </a:rPr>
              <a:t>Standard, premium and custom connectors expose an API as a set of triggers and actions; a custom connector wraps any REST API you own.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Governance from day one</a:t>
            </a:r>
          </a:p>
          <a:p>
            <a:pPr algn="l">
              <a:spcAft>
                <a:spcPts val="300"/>
              </a:spcAft>
            </a:pPr>
            <a:r>
              <a:rPr sz="1100" b="0">
                <a:solidFill>
                  <a:srgbClr val="5B6372"/>
                </a:solidFill>
                <a:latin typeface="Arial"/>
              </a:rPr>
              <a:t>DLP policies, environment strategy, compliance, data privacy and accessibility guardrails must be designed in, not bolted 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POWER PLATFORM EXISTS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Analyse. Act. Automate.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Power Platform lets the people who understand the business build the solution — without waiting for a development team.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WHAT'S IN THE BOX</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Five Power Platform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Apps</a:t>
            </a:r>
          </a:p>
          <a:p>
            <a:pPr algn="l">
              <a:spcAft>
                <a:spcPts val="300"/>
              </a:spcAft>
            </a:pPr>
            <a:r>
              <a:rPr sz="1100" b="0">
                <a:solidFill>
                  <a:srgbClr val="5B6372"/>
                </a:solidFill>
                <a:latin typeface="Arial"/>
              </a:rPr>
              <a:t>Build low-code business applications that run in a browser, on mobile and inside Teams.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Automate</a:t>
            </a:r>
          </a:p>
          <a:p>
            <a:pPr algn="l">
              <a:spcAft>
                <a:spcPts val="300"/>
              </a:spcAft>
            </a:pPr>
            <a:r>
              <a:rPr sz="1100" b="0">
                <a:solidFill>
                  <a:srgbClr val="5B6372"/>
                </a:solidFill>
                <a:latin typeface="Arial"/>
              </a:rPr>
              <a:t>Automate repetitive work with cloud flows, desktop flows (RPA) and business process flows.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BI</a:t>
            </a:r>
          </a:p>
          <a:p>
            <a:pPr algn="l">
              <a:spcAft>
                <a:spcPts val="300"/>
              </a:spcAft>
            </a:pPr>
            <a:r>
              <a:rPr sz="1100" b="0">
                <a:solidFill>
                  <a:srgbClr val="5B6372"/>
                </a:solidFill>
                <a:latin typeface="Arial"/>
              </a:rPr>
              <a:t>Connect, model, visualise and share business data as reports and dashboards.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Copilot Studio</a:t>
            </a:r>
          </a:p>
          <a:p>
            <a:pPr algn="l">
              <a:spcAft>
                <a:spcPts val="300"/>
              </a:spcAft>
            </a:pPr>
            <a:r>
              <a:rPr sz="1100" b="0">
                <a:solidFill>
                  <a:srgbClr val="5B6372"/>
                </a:solidFill>
                <a:latin typeface="Arial"/>
              </a:rPr>
              <a:t>Build conversational agents that answer questions and take action — formerly Power Virtual Agents.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Pages</a:t>
            </a:r>
          </a:p>
          <a:p>
            <a:pPr algn="l">
              <a:spcAft>
                <a:spcPts val="300"/>
              </a:spcAft>
            </a:pPr>
            <a:r>
              <a:rPr sz="1100" b="0">
                <a:solidFill>
                  <a:srgbClr val="5B6372"/>
                </a:solidFill>
                <a:latin typeface="Arial"/>
              </a:rPr>
              <a:t>Build secure, data-driven external-facing websites on the same Dataverse data.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Dataverse + connectors</a:t>
            </a:r>
          </a:p>
          <a:p>
            <a:pPr algn="l">
              <a:spcAft>
                <a:spcPts val="300"/>
              </a:spcAft>
            </a:pPr>
            <a:r>
              <a:rPr sz="1100" b="0">
                <a:solidFill>
                  <a:srgbClr val="5B6372"/>
                </a:solidFill>
                <a:latin typeface="Arial"/>
              </a:rPr>
              <a:t>The shared data platform and the 1,400+ connectors every service is built 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ORGANISATIONS ADOPT 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Business Case for Low-Code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Typical low-code delivery reaches a working first version in a fraction of the time and with a fraction of the specialist headcount — which is why the business case is usually speed and capacity, not licence cost.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BUSINESS VALUE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Four Forces Driving Adoption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Changing workforce expectations</a:t>
            </a:r>
          </a:p>
          <a:p>
            <a:pPr algn="l">
              <a:spcAft>
                <a:spcPts val="300"/>
              </a:spcAft>
            </a:pPr>
            <a:r>
              <a:rPr sz="1200" b="0">
                <a:solidFill>
                  <a:srgbClr val="5B6372"/>
                </a:solidFill>
                <a:latin typeface="Arial"/>
              </a:rPr>
              <a:t>Staff expect the same quality of tooling at work that they have on their phones.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Rising cost of custom development</a:t>
            </a:r>
          </a:p>
          <a:p>
            <a:pPr algn="l">
              <a:spcAft>
                <a:spcPts val="300"/>
              </a:spcAft>
            </a:pPr>
            <a:r>
              <a:rPr sz="1200" b="0">
                <a:solidFill>
                  <a:srgbClr val="5B6372"/>
                </a:solidFill>
                <a:latin typeface="Arial"/>
              </a:rPr>
              <a:t>Specialist developer time is scarce and expensive; demand outstrips supply.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need to be agile</a:t>
            </a:r>
          </a:p>
          <a:p>
            <a:pPr algn="l">
              <a:spcAft>
                <a:spcPts val="300"/>
              </a:spcAft>
            </a:pPr>
            <a:r>
              <a:rPr sz="1200" b="0">
                <a:solidFill>
                  <a:srgbClr val="5B6372"/>
                </a:solidFill>
                <a:latin typeface="Arial"/>
              </a:rPr>
              <a:t>Processes change faster than a traditional development cycle can deliver.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Scaling delivery</a:t>
            </a:r>
          </a:p>
          <a:p>
            <a:pPr algn="l">
              <a:spcAft>
                <a:spcPts val="300"/>
              </a:spcAft>
            </a:pPr>
            <a:r>
              <a:rPr sz="1200" b="0">
                <a:solidFill>
                  <a:srgbClr val="5B6372"/>
                </a:solidFill>
                <a:latin typeface="Arial"/>
              </a:rPr>
              <a:t>Empowering business makers multiplies delivery capacity without multiplying headcount.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 · TYPES OF MIDDLEWARE AND THEIR FEATURES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Platform as Integration Middleware  (K1)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Middleware capability</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How Power Platform provides it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Contoso example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Connect disparate systems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1,400+ connectors expose each system as triggers and actions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Outlook + SharePoint + Dataverse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Translate data between systems</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Dataverse as the common schema; Power Query and expressions transform</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Email text becomes a typed request row</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Orchestrate a process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Cloud flows sequence the work across systems, with conditions and loops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Request → approval → notify → update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Expose and consume APIs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Custom connectors wrap any REST API; connectors call APIs for you</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Legacy Building Services REST API</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Enforce policy in transit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DLP policies control which connectors may be combined</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Business vs non-business groups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This is why Power Platform answers the 'Applications Integration' C1358: it is the middleware layer between systems that were never designed to talk to each other.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CONNECTORS  ·  THE API SURFACE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Connector Types — and what they cost you  (K5)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is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Examples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Licence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Standard</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Included with most Microsoft 365 plans</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Outlook, SharePoint, Teams, OneDrive, Excel</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Included</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Premium</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Requires a Power Apps / Power Automate licence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Dataverse, SQL Server, Salesforce, HTTP</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Per user or per app</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Custom</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You build it to wrap your own REST API</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Contoso Building Services API</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Premium</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On-premises</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Reaches a server inside your network via a gateway</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On-prem SQL Server, file share</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Premium + gateway</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A connector is an API wrapper: its triggers are the events you can subscribe to and its actions are the operations you can call.</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 · FUNCTIONS OF APIs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Creating a Custom Connector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Choose the source</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Start from blank, an OpenAPI (Swagger) definition, or a Postman collection.</a:t>
            </a:r>
          </a:p>
        </p:txBody>
      </p:sp>
      <p:cxnSp>
        <p:nvCxnSpPr>
          <p:cNvPr id="13" name="Connector 12"/>
          <p:cNvCxnSpPr/>
          <p:nvPr/>
        </p:nvCxnSpPr>
        <p:spPr>
          <a:xfrm>
            <a:off x="2651760" y="3483864"/>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Define the host &amp; security</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Base URL plus the authentication type — API key, Basic, OAuth 2.0.</a:t>
            </a:r>
          </a:p>
        </p:txBody>
      </p:sp>
      <p:cxnSp>
        <p:nvCxnSpPr>
          <p:cNvPr id="20" name="Connector 19"/>
          <p:cNvCxnSpPr/>
          <p:nvPr/>
        </p:nvCxnSpPr>
        <p:spPr>
          <a:xfrm>
            <a:off x="4855464" y="3483864"/>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Define actions</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Map each API operation to an action with its request and response schema.</a:t>
            </a:r>
          </a:p>
        </p:txBody>
      </p:sp>
      <p:cxnSp>
        <p:nvCxnSpPr>
          <p:cNvPr id="27" name="Connector 26"/>
          <p:cNvCxnSpPr/>
          <p:nvPr/>
        </p:nvCxnSpPr>
        <p:spPr>
          <a:xfrm>
            <a:off x="7059168" y="3483864"/>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Test the connector</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Create a connection and call each operation with real values.</a:t>
            </a:r>
          </a:p>
        </p:txBody>
      </p:sp>
      <p:cxnSp>
        <p:nvCxnSpPr>
          <p:cNvPr id="34" name="Connector 33"/>
          <p:cNvCxnSpPr/>
          <p:nvPr/>
        </p:nvCxnSpPr>
        <p:spPr>
          <a:xfrm>
            <a:off x="9262872" y="3483864"/>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Share and govern</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Publish it to the environment and classify it in the DLP policy.</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custom connector turns any REST API your organisation owns into a first-class Power Platform building block that makers can use without writing code.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 · PLATFORMS APPLICATIONS RUN 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Platform and Microsoft 365  (K3)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Outlook</a:t>
            </a:r>
          </a:p>
          <a:p>
            <a:pPr algn="l">
              <a:spcAft>
                <a:spcPts val="300"/>
              </a:spcAft>
            </a:pPr>
            <a:r>
              <a:rPr sz="1100" b="0">
                <a:solidFill>
                  <a:srgbClr val="5B6372"/>
                </a:solidFill>
                <a:latin typeface="Arial"/>
              </a:rPr>
              <a:t>Trigger on mail arriving; send notifications and actionable approvals.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SharePoint</a:t>
            </a:r>
          </a:p>
          <a:p>
            <a:pPr algn="l">
              <a:spcAft>
                <a:spcPts val="300"/>
              </a:spcAft>
            </a:pPr>
            <a:r>
              <a:rPr sz="1100" b="0">
                <a:solidFill>
                  <a:srgbClr val="5B6372"/>
                </a:solidFill>
                <a:latin typeface="Arial"/>
              </a:rPr>
              <a:t>Use lists as a data source; store and route documents.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Teams</a:t>
            </a:r>
          </a:p>
          <a:p>
            <a:pPr algn="l">
              <a:spcAft>
                <a:spcPts val="300"/>
              </a:spcAft>
            </a:pPr>
            <a:r>
              <a:rPr sz="1100" b="0">
                <a:solidFill>
                  <a:srgbClr val="5B6372"/>
                </a:solidFill>
                <a:latin typeface="Arial"/>
              </a:rPr>
              <a:t>Embed apps as tabs, deliver approvals, and post adaptive cards.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Excel</a:t>
            </a:r>
          </a:p>
          <a:p>
            <a:pPr algn="l">
              <a:spcAft>
                <a:spcPts val="300"/>
              </a:spcAft>
            </a:pPr>
            <a:r>
              <a:rPr sz="1100" b="0">
                <a:solidFill>
                  <a:srgbClr val="5B6372"/>
                </a:solidFill>
                <a:latin typeface="Arial"/>
              </a:rPr>
              <a:t>Import data to start an app; read and write rows in a workbook.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Office 365 Users</a:t>
            </a:r>
          </a:p>
          <a:p>
            <a:pPr algn="l">
              <a:spcAft>
                <a:spcPts val="300"/>
              </a:spcAft>
            </a:pPr>
            <a:r>
              <a:rPr sz="1100" b="0">
                <a:solidFill>
                  <a:srgbClr val="5B6372"/>
                </a:solidFill>
                <a:latin typeface="Arial"/>
              </a:rPr>
              <a:t>Look up the signed-in user, their manager and their profile.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Dynamics 365</a:t>
            </a:r>
          </a:p>
          <a:p>
            <a:pPr algn="l">
              <a:spcAft>
                <a:spcPts val="300"/>
              </a:spcAft>
            </a:pPr>
            <a:r>
              <a:rPr sz="1100" b="0">
                <a:solidFill>
                  <a:srgbClr val="5B6372"/>
                </a:solidFill>
                <a:latin typeface="Arial"/>
              </a:rPr>
              <a:t>Model-driven apps and Dynamics share the same Dataverse platform.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DLP · COMPLIANCE · PRIVACY · ACCESSIBILITY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Governance from Day 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loss prevention (DLP)</a:t>
            </a:r>
          </a:p>
          <a:p>
            <a:pPr algn="l">
              <a:spcAft>
                <a:spcPts val="300"/>
              </a:spcAft>
            </a:pPr>
            <a:r>
              <a:rPr sz="1100" b="0">
                <a:solidFill>
                  <a:srgbClr val="5B6372"/>
                </a:solidFill>
                <a:latin typeface="Arial"/>
              </a:rPr>
              <a:t>Policies group connectors as Business, Non-business or Blocked — and forbid mixing groups.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Environments</a:t>
            </a:r>
          </a:p>
          <a:p>
            <a:pPr algn="l">
              <a:spcAft>
                <a:spcPts val="300"/>
              </a:spcAft>
            </a:pPr>
            <a:r>
              <a:rPr sz="1100" b="0">
                <a:solidFill>
                  <a:srgbClr val="5B6372"/>
                </a:solidFill>
                <a:latin typeface="Arial"/>
              </a:rPr>
              <a:t>Separate dev, test and production so experiments never touch live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Compliance</a:t>
            </a:r>
          </a:p>
          <a:p>
            <a:pPr algn="l">
              <a:spcAft>
                <a:spcPts val="300"/>
              </a:spcAft>
            </a:pPr>
            <a:r>
              <a:rPr sz="1100" b="0">
                <a:solidFill>
                  <a:srgbClr val="5B6372"/>
                </a:solidFill>
                <a:latin typeface="Arial"/>
              </a:rPr>
              <a:t>Power Platform inherits Microsoft 365 compliance, auditing and data residency.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privacy</a:t>
            </a:r>
          </a:p>
          <a:p>
            <a:pPr algn="l">
              <a:spcAft>
                <a:spcPts val="300"/>
              </a:spcAft>
            </a:pPr>
            <a:r>
              <a:rPr sz="1100" b="0">
                <a:solidFill>
                  <a:srgbClr val="5B6372"/>
                </a:solidFill>
                <a:latin typeface="Arial"/>
              </a:rPr>
              <a:t>Personal data is governed by tenant policy, retention and the security model.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Accessibility</a:t>
            </a:r>
          </a:p>
          <a:p>
            <a:pPr algn="l">
              <a:spcAft>
                <a:spcPts val="300"/>
              </a:spcAft>
            </a:pPr>
            <a:r>
              <a:rPr sz="1100" b="0">
                <a:solidFill>
                  <a:srgbClr val="5B6372"/>
                </a:solidFill>
                <a:latin typeface="Arial"/>
              </a:rPr>
              <a:t>The Accessibility Checker in Power Apps flags contrast, labels and tab order issues.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Monitoring</a:t>
            </a:r>
          </a:p>
          <a:p>
            <a:pPr algn="l">
              <a:spcAft>
                <a:spcPts val="300"/>
              </a:spcAft>
            </a:pPr>
            <a:r>
              <a:rPr sz="1100" b="0">
                <a:solidFill>
                  <a:srgbClr val="5B6372"/>
                </a:solidFill>
                <a:latin typeface="Arial"/>
              </a:rPr>
              <a:t>The admin center reports environment usage, flow runs and app adoption.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A1 · IDENTIFY OPPORTUNITIES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Is this a Power Platform opportunity?  (A1)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the process manual, repetitive, and does it move data between two or more systems?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an integration opportunity</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Run the feasibility scan (A2): choose the connector, then check licensing, gateway and DLP implications.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document why not</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one-off task or a compute-heavy job is better served by a bespoke or purchased solution.</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Recording the rejected options is part of a defensible feasibility assessment — not every process should become an app.</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 45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Validate the Lab Environment and Tour the Maker Portals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sign in to the Power Platform, confirm the environment and licence, and navigate the four maker portals used throughout the course.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Before building anything you confirm you have a working environment. You sign in to the Power Apps maker portal, verify which environment you are in, check your licence, and tour the Power Automate, Power BI and Copilot Studio portals so you know where each service lives.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validated Power Platform environment plus a portal reference sheet recording your environment name, region, licence type and the Dataverse state.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maker portal, Power Automate, Power BI service, Copilot Studio, Power Platform admin center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 can open all five portals signed in as the same user, the SAME environment name appears in the picker on the Power Apps, Power Automate and Copilot Studio portals, and Tables shows the standard Dataverse tables.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Validate the Lab Environment and Tour the…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Open a private/InPrivate…</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a private/InPrivate browser window and go to the Power Apps maker portal, then sign in…</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If a Dataverse database has…</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If a Dataverse database has not been provisioned, select the environment picker and choose an…</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Open the Power Automate…</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the Power Automate portal in a new tab and confirm the SAME environment is selected in the…</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Open Copilot Studio in a…</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Copilot Studio in a fourth tab and confirm the same environment is selected.</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Complete the portal reference…</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Complete the portal reference sheet: for each of the five portals record its URL, what you…</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validated Power Platform environment plus a portal reference sheet recording your environment name, region, licence type and the Dataverse state.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Validate the Lab Environment and Tour the Maker Portals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open all five portals signed in as the same user, the SAME environment name appears in the picker on the Power Apps, Power Automate and Copilot Studio portals, and Tables shows the standard Dataverse tables.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environment with Dataverse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Create a free developer environment at https://aka.ms/PowerAppsDevPlan, then re-check the environment picker.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'You need permission' on the admin center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are not an environment or tenant admin. This is expected for a maker account — record what you CAN see and continue.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Wrong environment selected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portal keeps its own last-used environment. Set the picker explicitly in each tab before you build anything.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 60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Assess the Business Case and Map Connectors to an Integration Need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identify integration opportunities across Contoso's systems and perform a feasibility assessment that selects the right connector for each need.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Contoso's facilities process is spread across email, a spreadsheet and a legacy web system. You analyse the current state, identify where Power Platform can create connections between those systems, and perform a feasibility scan that decides which connector — standard, premium or custom — serves each requirement.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integration opportunity register and a connector feasibility assessment recommending a connector and licence tier for each of Contoso's six integration needs.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Platform connector reference, Power Apps maker portal, Microsoft Learn documentation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register names both systems and the data direction for every opportunity, and your feasibility assessment recommends a specific connector with its licence tier for all six needs, including a custom connector for the legacy REST API.</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Assess the Business Case and Map Connectors…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Open labs/lab-02-business…</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labs/lab-02-business-value-connectors/data/contoso-current-state.csv. It lists how Contoso…</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Complete the integration…</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Complete the integration opportunity register: for each pain point, record the two systems that…</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Search the connector list for…</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Search the connector list for Contoso's legacy 'Building Services' REST API. It is not there…</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Write a one-paragraph…</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Write a one-paragraph recommendation naming the connector for each of the six needs and…</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Review the DLP implication…</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Review the DLP implication: if a policy puts SharePoint in Business and the custom connector in…</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completed integration opportunity register and a connector feasibility assessment recommending a connector and licence tier for each of Contoso's six integration needs.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Assess the Business Case and Map Connectors to an Integration Need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register names both systems and the data direction for every opportunity, and your feasibility assessment recommends a specific connector with its licence tier for all six needs, including a custom connector for the legacy REST API.</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Cannot find a connector in the maker portal</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Use https://learn.microsoft.com/connectors/connector-reference/ — it lists every connector and its tier without needing a licence.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Unsure whether a connector is premium</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connector card shows a PREMIUM badge. Premium requires a per-user or per-app Power Apps/Power Automate licence.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API for a legacy system</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If it exposes no API at all, the integration path is a desktop flow (RPA) driving the UI, not a connector.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Introduction to Microsoft Power Platform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Power Platform is five services on a shared data platform and 1,400+ connectors.</a:t>
            </a:r>
          </a:p>
          <a:p>
            <a:pPr>
              <a:spcAft>
                <a:spcPts val="1000"/>
              </a:spcAft>
            </a:pPr>
            <a:r>
              <a:rPr sz="1600" b="0">
                <a:solidFill>
                  <a:srgbClr val="161B26"/>
                </a:solidFill>
                <a:latin typeface="Arial"/>
              </a:rPr>
              <a:t>•  Its business value is speed, agility and delivery capacity — not just licence cost.</a:t>
            </a:r>
          </a:p>
          <a:p>
            <a:pPr>
              <a:spcAft>
                <a:spcPts val="1000"/>
              </a:spcAft>
            </a:pPr>
            <a:r>
              <a:rPr sz="1600" b="0">
                <a:solidFill>
                  <a:srgbClr val="161B26"/>
                </a:solidFill>
                <a:latin typeface="Arial"/>
              </a:rPr>
              <a:t>•  It acts as middleware: it connects, translates, orchestrates and governs between systems (K1).</a:t>
            </a:r>
          </a:p>
          <a:p>
            <a:pPr>
              <a:spcAft>
                <a:spcPts val="1000"/>
              </a:spcAft>
            </a:pPr>
            <a:r>
              <a:rPr sz="1600" b="0">
                <a:solidFill>
                  <a:srgbClr val="161B26"/>
                </a:solidFill>
                <a:latin typeface="Arial"/>
              </a:rPr>
              <a:t>•  Connectors are API wrappers; custom connectors wrap any REST API you own (K5).</a:t>
            </a:r>
          </a:p>
          <a:p>
            <a:pPr>
              <a:spcAft>
                <a:spcPts val="1000"/>
              </a:spcAft>
            </a:pPr>
            <a:r>
              <a:rPr sz="1600" b="0">
                <a:solidFill>
                  <a:srgbClr val="161B26"/>
                </a:solidFill>
                <a:latin typeface="Arial"/>
              </a:rPr>
              <a:t>•  One solution serves web, mobile, desktop and Teams without a rewrite (K3).</a:t>
            </a:r>
          </a:p>
          <a:p>
            <a:pPr>
              <a:spcAft>
                <a:spcPts val="1000"/>
              </a:spcAft>
            </a:pPr>
            <a:r>
              <a:rPr sz="1600" b="0">
                <a:solidFill>
                  <a:srgbClr val="161B26"/>
                </a:solidFill>
                <a:latin typeface="Arial"/>
              </a:rPr>
              <a:t>•  DLP, environments, privacy and accessibility must be designed in from the start.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Dataverse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Tables, columns, relationships · environments · business logic · administration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K1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Introduction to Dataverse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Dataverse is</a:t>
            </a:r>
          </a:p>
          <a:p>
            <a:pPr algn="l">
              <a:spcAft>
                <a:spcPts val="300"/>
              </a:spcAft>
            </a:pPr>
            <a:r>
              <a:rPr sz="1100" b="0">
                <a:solidFill>
                  <a:srgbClr val="5B6372"/>
                </a:solidFill>
                <a:latin typeface="Arial"/>
              </a:rPr>
              <a:t>A secure, cloud-hosted business data platform — not just a database. It adds metadata, role-based security, business logic and auditing on top of storage.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Beyond a spreadsheet</a:t>
            </a:r>
          </a:p>
          <a:p>
            <a:pPr algn="l">
              <a:spcAft>
                <a:spcPts val="300"/>
              </a:spcAft>
            </a:pPr>
            <a:r>
              <a:rPr sz="1100" b="0">
                <a:solidFill>
                  <a:srgbClr val="5B6372"/>
                </a:solidFill>
                <a:latin typeface="Arial"/>
              </a:rPr>
              <a:t>Enforced data types, relationships, row/column-level security, server-side validation, views, forms and change tracking — none of which a workbook gives you.</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Tables, columns, rows</a:t>
            </a:r>
          </a:p>
          <a:p>
            <a:pPr algn="l">
              <a:spcAft>
                <a:spcPts val="300"/>
              </a:spcAft>
            </a:pPr>
            <a:r>
              <a:rPr sz="1100" b="0">
                <a:solidFill>
                  <a:srgbClr val="5B6372"/>
                </a:solidFill>
                <a:latin typeface="Arial"/>
              </a:rPr>
              <a:t>Tables define the entity, columns define the fields and their data types, and rows hold the records. Standard, custom and managed (virtual) tables coexist.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Relationships</a:t>
            </a:r>
          </a:p>
          <a:p>
            <a:pPr algn="l">
              <a:spcAft>
                <a:spcPts val="300"/>
              </a:spcAft>
            </a:pPr>
            <a:r>
              <a:rPr sz="1100" b="0">
                <a:solidFill>
                  <a:srgbClr val="5B6372"/>
                </a:solidFill>
                <a:latin typeface="Arial"/>
              </a:rPr>
              <a:t>One-to-many, many-to-one and many-to-many relationships connect tables; a lookup column is how a one-to-many relationship appears on a form.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logic</a:t>
            </a:r>
          </a:p>
          <a:p>
            <a:pPr algn="l">
              <a:spcAft>
                <a:spcPts val="300"/>
              </a:spcAft>
            </a:pPr>
            <a:r>
              <a:rPr sz="1100" b="0">
                <a:solidFill>
                  <a:srgbClr val="5B6372"/>
                </a:solidFill>
                <a:latin typeface="Arial"/>
              </a:rPr>
              <a:t>Business rules (no-code), Power Fx formula columns, real-time workflows, cloud flows and low-code plug-ins — pick the lightest tool that does the job.</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Environments and ALM</a:t>
            </a:r>
          </a:p>
          <a:p>
            <a:pPr algn="l">
              <a:spcAft>
                <a:spcPts val="300"/>
              </a:spcAft>
            </a:pPr>
            <a:r>
              <a:rPr sz="1100" b="0">
                <a:solidFill>
                  <a:srgbClr val="5B6372"/>
                </a:solidFill>
                <a:latin typeface="Arial"/>
              </a:rPr>
              <a:t>Environments isolate dev, test and production; solutions package the work and Power Platform pipelines move it between them.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THE SHIFT IN THINKING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Dataverse is a platform, not a table.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Storage is the least interesting thing it does — security, metadata, logic and auditing are what make it a business data platform.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WHY NOT JUST USE EXCEL?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Spreadsheet vs Dataverse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Capability</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Spreadsheet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Microsoft Dataverse</a:t>
            </a:r>
          </a:p>
        </p:txBody>
      </p:sp>
      <p:sp>
        <p:nvSpPr>
          <p:cNvPr id="13" name="Rectangle 12"/>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Data types</a:t>
            </a:r>
          </a:p>
        </p:txBody>
      </p:sp>
      <p:sp>
        <p:nvSpPr>
          <p:cNvPr id="15" name="Rectangle 14"/>
          <p:cNvSpPr/>
          <p:nvPr/>
        </p:nvSpPr>
        <p:spPr>
          <a:xfrm>
            <a:off x="3542202"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A cell holds anything</a:t>
            </a:r>
          </a:p>
        </p:txBody>
      </p:sp>
      <p:sp>
        <p:nvSpPr>
          <p:cNvPr id="17" name="Rectangle 16"/>
          <p:cNvSpPr/>
          <p:nvPr/>
        </p:nvSpPr>
        <p:spPr>
          <a:xfrm>
            <a:off x="7476957"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Enforced per column — text, date, currency, choice, lookup</a:t>
            </a:r>
          </a:p>
        </p:txBody>
      </p:sp>
      <p:sp>
        <p:nvSpPr>
          <p:cNvPr id="19" name="Rectangle 18"/>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Relationships</a:t>
            </a:r>
          </a:p>
        </p:txBody>
      </p:sp>
      <p:sp>
        <p:nvSpPr>
          <p:cNvPr id="21" name="Rectangle 20"/>
          <p:cNvSpPr/>
          <p:nvPr/>
        </p:nvSpPr>
        <p:spPr>
          <a:xfrm>
            <a:off x="3542202"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Manual VLOOKUP</a:t>
            </a:r>
          </a:p>
        </p:txBody>
      </p:sp>
      <p:sp>
        <p:nvSpPr>
          <p:cNvPr id="23" name="Rectangle 22"/>
          <p:cNvSpPr/>
          <p:nvPr/>
        </p:nvSpPr>
        <p:spPr>
          <a:xfrm>
            <a:off x="7476957"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First-class 1:N, N:1 and N:N relationships</a:t>
            </a:r>
          </a:p>
        </p:txBody>
      </p:sp>
      <p:sp>
        <p:nvSpPr>
          <p:cNvPr id="25" name="Rectangle 24"/>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Security</a:t>
            </a:r>
          </a:p>
        </p:txBody>
      </p:sp>
      <p:sp>
        <p:nvSpPr>
          <p:cNvPr id="27" name="Rectangle 26"/>
          <p:cNvSpPr/>
          <p:nvPr/>
        </p:nvSpPr>
        <p:spPr>
          <a:xfrm>
            <a:off x="3542202"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File-level, all or nothing</a:t>
            </a:r>
          </a:p>
        </p:txBody>
      </p:sp>
      <p:sp>
        <p:nvSpPr>
          <p:cNvPr id="29" name="Rectangle 28"/>
          <p:cNvSpPr/>
          <p:nvPr/>
        </p:nvSpPr>
        <p:spPr>
          <a:xfrm>
            <a:off x="7476957"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Role-based, down to the row and the column</a:t>
            </a:r>
          </a:p>
        </p:txBody>
      </p:sp>
      <p:sp>
        <p:nvSpPr>
          <p:cNvPr id="31" name="Rectangle 30"/>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Validation</a:t>
            </a:r>
          </a:p>
        </p:txBody>
      </p:sp>
      <p:sp>
        <p:nvSpPr>
          <p:cNvPr id="33" name="Rectangle 32"/>
          <p:cNvSpPr/>
          <p:nvPr/>
        </p:nvSpPr>
        <p:spPr>
          <a:xfrm>
            <a:off x="3542202"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Optional and easily bypassed</a:t>
            </a:r>
          </a:p>
        </p:txBody>
      </p:sp>
      <p:sp>
        <p:nvSpPr>
          <p:cNvPr id="35" name="Rectangle 34"/>
          <p:cNvSpPr/>
          <p:nvPr/>
        </p:nvSpPr>
        <p:spPr>
          <a:xfrm>
            <a:off x="7476957"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Server-side business rules run for every client</a:t>
            </a:r>
          </a:p>
        </p:txBody>
      </p:sp>
      <p:sp>
        <p:nvSpPr>
          <p:cNvPr id="37" name="Rectangle 3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Concurrency</a:t>
            </a:r>
          </a:p>
        </p:txBody>
      </p:sp>
      <p:sp>
        <p:nvSpPr>
          <p:cNvPr id="39" name="Rectangle 38"/>
          <p:cNvSpPr/>
          <p:nvPr/>
        </p:nvSpPr>
        <p:spPr>
          <a:xfrm>
            <a:off x="3542202"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The file locks</a:t>
            </a:r>
          </a:p>
        </p:txBody>
      </p:sp>
      <p:sp>
        <p:nvSpPr>
          <p:cNvPr id="41" name="Rectangle 40"/>
          <p:cNvSpPr/>
          <p:nvPr/>
        </p:nvSpPr>
        <p:spPr>
          <a:xfrm>
            <a:off x="7476957"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Many users write at once, safely</a:t>
            </a:r>
          </a:p>
        </p:txBody>
      </p:sp>
      <p:sp>
        <p:nvSpPr>
          <p:cNvPr id="43" name="Rectangle 42"/>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Audit</a:t>
            </a:r>
          </a:p>
        </p:txBody>
      </p:sp>
      <p:sp>
        <p:nvSpPr>
          <p:cNvPr id="45" name="Rectangle 44"/>
          <p:cNvSpPr/>
          <p:nvPr/>
        </p:nvSpPr>
        <p:spPr>
          <a:xfrm>
            <a:off x="3542202"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47" name="Rectangle 46"/>
          <p:cNvSpPr/>
          <p:nvPr/>
        </p:nvSpPr>
        <p:spPr>
          <a:xfrm>
            <a:off x="7476957"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Full change history per row and column</a:t>
            </a:r>
          </a:p>
        </p:txBody>
      </p:sp>
      <p:sp>
        <p:nvSpPr>
          <p:cNvPr id="49" name="Rectangle 48"/>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Reuse</a:t>
            </a:r>
          </a:p>
        </p:txBody>
      </p:sp>
      <p:sp>
        <p:nvSpPr>
          <p:cNvPr id="51" name="Rectangle 50"/>
          <p:cNvSpPr/>
          <p:nvPr/>
        </p:nvSpPr>
        <p:spPr>
          <a:xfrm>
            <a:off x="3542202"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One file, one purpose</a:t>
            </a:r>
          </a:p>
        </p:txBody>
      </p:sp>
      <p:sp>
        <p:nvSpPr>
          <p:cNvPr id="53" name="Rectangle 52"/>
          <p:cNvSpPr/>
          <p:nvPr/>
        </p:nvSpPr>
        <p:spPr>
          <a:xfrm>
            <a:off x="7476957"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One model serving apps, flows, BI and agents</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Contoso's Facilities Log.xlsx is exactly the pain this table describes — file locks, rekeying and no audit trail.</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TABLES · COLUMNS · ROWS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Anatomy of Dataverse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Tables</a:t>
            </a:r>
          </a:p>
          <a:p>
            <a:pPr algn="l">
              <a:spcAft>
                <a:spcPts val="300"/>
              </a:spcAft>
            </a:pPr>
            <a:r>
              <a:rPr sz="1100" b="0">
                <a:solidFill>
                  <a:srgbClr val="5B6372"/>
                </a:solidFill>
                <a:latin typeface="Arial"/>
              </a:rPr>
              <a:t>The entity — Facility Request, Room, Account. Formerly called 'entities'.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Columns</a:t>
            </a:r>
          </a:p>
          <a:p>
            <a:pPr algn="l">
              <a:spcAft>
                <a:spcPts val="300"/>
              </a:spcAft>
            </a:pPr>
            <a:r>
              <a:rPr sz="1100" b="0">
                <a:solidFill>
                  <a:srgbClr val="5B6372"/>
                </a:solidFill>
                <a:latin typeface="Arial"/>
              </a:rPr>
              <a:t>The fields and their data types. Formerly called 'attributes' or 'fields'.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Rows</a:t>
            </a:r>
          </a:p>
          <a:p>
            <a:pPr algn="l">
              <a:spcAft>
                <a:spcPts val="300"/>
              </a:spcAft>
            </a:pPr>
            <a:r>
              <a:rPr sz="1100" b="0">
                <a:solidFill>
                  <a:srgbClr val="5B6372"/>
                </a:solidFill>
                <a:latin typeface="Arial"/>
              </a:rPr>
              <a:t>The records themselves. Formerly called 'records'.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Relationships</a:t>
            </a:r>
          </a:p>
          <a:p>
            <a:pPr algn="l">
              <a:spcAft>
                <a:spcPts val="300"/>
              </a:spcAft>
            </a:pPr>
            <a:r>
              <a:rPr sz="1100" b="0">
                <a:solidFill>
                  <a:srgbClr val="5B6372"/>
                </a:solidFill>
                <a:latin typeface="Arial"/>
              </a:rPr>
              <a:t>How tables connect — one-to-many, many-to-one, many-to-many.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Views</a:t>
            </a:r>
          </a:p>
          <a:p>
            <a:pPr algn="l">
              <a:spcAft>
                <a:spcPts val="300"/>
              </a:spcAft>
            </a:pPr>
            <a:r>
              <a:rPr sz="1100" b="0">
                <a:solidFill>
                  <a:srgbClr val="5B6372"/>
                </a:solidFill>
                <a:latin typeface="Arial"/>
              </a:rPr>
              <a:t>A saved, filtered, sorted list of rows — what a grid shows.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Forms</a:t>
            </a:r>
          </a:p>
          <a:p>
            <a:pPr algn="l">
              <a:spcAft>
                <a:spcPts val="300"/>
              </a:spcAft>
            </a:pPr>
            <a:r>
              <a:rPr sz="1100" b="0">
                <a:solidFill>
                  <a:srgbClr val="5B6372"/>
                </a:solidFill>
                <a:latin typeface="Arial"/>
              </a:rPr>
              <a:t>The layout used to read or edit a single row.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STANDARD · CUSTOM · MANAGED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Types of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Where it comes from</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Can you change it?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Standard</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Ships with Dataverse</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Extend it, but not remove it</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Account, Contact, User</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Custom</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You create it</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Fully — it is yours</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Facility Request, Room</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Managed / virtual</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Installed by a solution or backed by an external source</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Only as the publisher allows</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 table surfaced from SQL</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Build on standard tables where one already fits — Contact already models a person, so do not create 'Employee' from scratch without a reason.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CHOOSE THE RIGHT TYPE FIRST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Column Data Types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Data 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Stores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Contoso example</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Text / Multiple lines</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Characters, up to a max length</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Request Title, Description (2000 chars)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Date and time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date, optionally with time and time-zone behaviour</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Date Requested (Date Only, User Local)</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Currency</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money value plus a base-currency value</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Estimated Cost</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Choice</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label AND an integer value</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Priority — Low 1, Medium 2, High 3, Urgent 4</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Yes/No</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boolean</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Conference Room</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Lookup</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reference to a row in another table</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Room on Facility Request</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choice column stores an INTEGER behind the label — Power Automate compares against 3 and 4, not the words 'High' and 'Urgent'. This trips up more people than any other detail.</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ONE-TO-MANY  ·  THE LOOKUP COLUMN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 Relationship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Pick the parent</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Room is the 'one' side — one room has many requests.</a:t>
            </a:r>
          </a:p>
        </p:txBody>
      </p:sp>
      <p:cxnSp>
        <p:nvCxnSpPr>
          <p:cNvPr id="13" name="Connector 12"/>
          <p:cNvCxnSpPr/>
          <p:nvPr/>
        </p:nvCxnSpPr>
        <p:spPr>
          <a:xfrm>
            <a:off x="2651760"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Pick the child</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Facility Request is the 'many' side.</a:t>
            </a:r>
          </a:p>
        </p:txBody>
      </p:sp>
      <p:cxnSp>
        <p:nvCxnSpPr>
          <p:cNvPr id="20" name="Connector 19"/>
          <p:cNvCxnSpPr/>
          <p:nvPr/>
        </p:nvCxnSpPr>
        <p:spPr>
          <a:xfrm>
            <a:off x="4855464"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Add a lookup</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 Lookup column on the child points at the parent.</a:t>
            </a:r>
          </a:p>
        </p:txBody>
      </p:sp>
      <p:cxnSp>
        <p:nvCxnSpPr>
          <p:cNvPr id="27" name="Connector 26"/>
          <p:cNvCxnSpPr/>
          <p:nvPr/>
        </p:nvCxnSpPr>
        <p:spPr>
          <a:xfrm>
            <a:off x="7059168"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Dataverse creates the link</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 1:N relationship appears on the parent automatically.</a:t>
            </a:r>
          </a:p>
        </p:txBody>
      </p:sp>
      <p:cxnSp>
        <p:nvCxnSpPr>
          <p:cNvPr id="34" name="Connector 33"/>
          <p:cNvCxnSpPr/>
          <p:nvPr/>
        </p:nvCxnSpPr>
        <p:spPr>
          <a:xfrm>
            <a:off x="9262872"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Use it everywhere</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Apps show a picker; flows and Power BI can traverse the relationship.</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lookup column always lives on the MANY side — this is the single most common exam question about relationships.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BUSINESS LOGIC OPTIONS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Which business logic should I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the rule only set or validate fields on the form, with no external system involved?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use a business rule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No-code, runs on the form and on the server. Show/hide, set values, validate. Start here.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use Power Fx, a flow or a plug-in</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formula column for a calculation; a cloud flow to reach another system; a low-code plug-in for server-side logic.</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Always choose the lightest tool that does the job — a business rule is cheaper to maintain than a flow, and a flow cheaper than code.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ENVIRONMENT STRATEGY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Environments — and why you need more than 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Default</a:t>
            </a:r>
          </a:p>
          <a:p>
            <a:pPr algn="l">
              <a:spcAft>
                <a:spcPts val="300"/>
              </a:spcAft>
            </a:pPr>
            <a:r>
              <a:rPr sz="1100" b="0">
                <a:solidFill>
                  <a:srgbClr val="5B6372"/>
                </a:solidFill>
                <a:latin typeface="Arial"/>
              </a:rPr>
              <a:t>Created automatically for the tenant. Everyone is a maker. Never build production here.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Developer</a:t>
            </a:r>
          </a:p>
          <a:p>
            <a:pPr algn="l">
              <a:spcAft>
                <a:spcPts val="300"/>
              </a:spcAft>
            </a:pPr>
            <a:r>
              <a:rPr sz="1100" b="0">
                <a:solidFill>
                  <a:srgbClr val="5B6372"/>
                </a:solidFill>
                <a:latin typeface="Arial"/>
              </a:rPr>
              <a:t>Free, single-user, includes Dataverse. Perfect for learning and prototyping.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Sandbox</a:t>
            </a:r>
          </a:p>
          <a:p>
            <a:pPr algn="l">
              <a:spcAft>
                <a:spcPts val="300"/>
              </a:spcAft>
            </a:pPr>
            <a:r>
              <a:rPr sz="1100" b="0">
                <a:solidFill>
                  <a:srgbClr val="5B6372"/>
                </a:solidFill>
                <a:latin typeface="Arial"/>
              </a:rPr>
              <a:t>A non-production copy for testing; can be reset or copied from production.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Production</a:t>
            </a:r>
          </a:p>
          <a:p>
            <a:pPr algn="l">
              <a:spcAft>
                <a:spcPts val="300"/>
              </a:spcAft>
            </a:pPr>
            <a:r>
              <a:rPr sz="1100" b="0">
                <a:solidFill>
                  <a:srgbClr val="5B6372"/>
                </a:solidFill>
                <a:latin typeface="Arial"/>
              </a:rPr>
              <a:t>The live environment, backed up and governed. Deploy here, do not build here.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Isolation</a:t>
            </a:r>
          </a:p>
          <a:p>
            <a:pPr algn="l">
              <a:spcAft>
                <a:spcPts val="300"/>
              </a:spcAft>
            </a:pPr>
            <a:r>
              <a:rPr sz="1100" b="0">
                <a:solidFill>
                  <a:srgbClr val="5B6372"/>
                </a:solidFill>
                <a:latin typeface="Arial"/>
              </a:rPr>
              <a:t>Each environment has its own database, security roles, apps and flows.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Region</a:t>
            </a:r>
          </a:p>
          <a:p>
            <a:pPr algn="l">
              <a:spcAft>
                <a:spcPts val="300"/>
              </a:spcAft>
            </a:pPr>
            <a:r>
              <a:rPr sz="1100" b="0">
                <a:solidFill>
                  <a:srgbClr val="5B6372"/>
                </a:solidFill>
                <a:latin typeface="Arial"/>
              </a:rPr>
              <a:t>An environment lives in a region — this drives data residency and latency.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LAYERED, NOT A SINGLE SWITCH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Dataverse Security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Environment access</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Can the user reach this environment at all?</a:t>
            </a:r>
          </a:p>
        </p:txBody>
      </p:sp>
      <p:cxnSp>
        <p:nvCxnSpPr>
          <p:cNvPr id="13" name="Connector 12"/>
          <p:cNvCxnSpPr/>
          <p:nvPr/>
        </p:nvCxnSpPr>
        <p:spPr>
          <a:xfrm>
            <a:off x="2651760"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Security role</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Which role(s) is the user assigned in this environment?</a:t>
            </a:r>
          </a:p>
        </p:txBody>
      </p:sp>
      <p:cxnSp>
        <p:nvCxnSpPr>
          <p:cNvPr id="20" name="Connector 19"/>
          <p:cNvCxnSpPr/>
          <p:nvPr/>
        </p:nvCxnSpPr>
        <p:spPr>
          <a:xfrm>
            <a:off x="4855464"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Table privilege</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Does the role grant Create / Read / Write / Delete on this table?</a:t>
            </a:r>
          </a:p>
        </p:txBody>
      </p:sp>
      <p:cxnSp>
        <p:nvCxnSpPr>
          <p:cNvPr id="27" name="Connector 26"/>
          <p:cNvCxnSpPr/>
          <p:nvPr/>
        </p:nvCxnSpPr>
        <p:spPr>
          <a:xfrm>
            <a:off x="7059168"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Access level</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User → Business Unit → Parent:Child → Organization.</a:t>
            </a:r>
          </a:p>
        </p:txBody>
      </p:sp>
      <p:cxnSp>
        <p:nvCxnSpPr>
          <p:cNvPr id="34" name="Connector 33"/>
          <p:cNvCxnSpPr/>
          <p:nvPr/>
        </p:nvCxnSpPr>
        <p:spPr>
          <a:xfrm>
            <a:off x="9262872"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Column security</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Optionally restrict individual sensitive columns.</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 employee gets Read at USER level and sees only their own requests; a coordinator gets Read at ORGANIZATION level and sees them all — same table, same role structure.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SOLUTIONS AND PIPELINES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Application Lifecycle Management (ALM)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Build in Dev</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Makers work in an unmanaged solution in the development environment.</a:t>
            </a:r>
          </a:p>
        </p:txBody>
      </p:sp>
      <p:cxnSp>
        <p:nvCxnSpPr>
          <p:cNvPr id="13" name="Connector 12"/>
          <p:cNvCxnSpPr/>
          <p:nvPr/>
        </p:nvCxnSpPr>
        <p:spPr>
          <a:xfrm>
            <a:off x="2651760" y="3483864"/>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Package</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The solution collects the tables, apps, flows and agents as one unit.</a:t>
            </a:r>
          </a:p>
        </p:txBody>
      </p:sp>
      <p:cxnSp>
        <p:nvCxnSpPr>
          <p:cNvPr id="20" name="Connector 19"/>
          <p:cNvCxnSpPr/>
          <p:nvPr/>
        </p:nvCxnSpPr>
        <p:spPr>
          <a:xfrm>
            <a:off x="4855464" y="3483864"/>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Promote to Test</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 Power Platform pipeline deploys it as a managed solution.</a:t>
            </a:r>
          </a:p>
        </p:txBody>
      </p:sp>
      <p:cxnSp>
        <p:nvCxnSpPr>
          <p:cNvPr id="27" name="Connector 26"/>
          <p:cNvCxnSpPr/>
          <p:nvPr/>
        </p:nvCxnSpPr>
        <p:spPr>
          <a:xfrm>
            <a:off x="7059168" y="3483864"/>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Validate</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Test in an environment that mirrors production, with test data.</a:t>
            </a:r>
          </a:p>
        </p:txBody>
      </p:sp>
      <p:cxnSp>
        <p:nvCxnSpPr>
          <p:cNvPr id="34" name="Connector 33"/>
          <p:cNvCxnSpPr/>
          <p:nvPr/>
        </p:nvCxnSpPr>
        <p:spPr>
          <a:xfrm>
            <a:off x="9262872" y="3483864"/>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Deploy to Production</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The same pipeline promotes the managed solution — no manual rebuild.</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Unmanaged = the editable source in Dev. Managed = the read-only deployed artefact in Test and Production. Never hand-build the same app twice.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GOVERN, MEASURE, INCLUDE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Monitoring, Privacy and Accessibility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Admin analytics</a:t>
            </a:r>
          </a:p>
          <a:p>
            <a:pPr algn="l">
              <a:spcAft>
                <a:spcPts val="300"/>
              </a:spcAft>
            </a:pPr>
            <a:r>
              <a:rPr sz="1100" b="0">
                <a:solidFill>
                  <a:srgbClr val="5B6372"/>
                </a:solidFill>
                <a:latin typeface="Arial"/>
              </a:rPr>
              <a:t>Environment, app, flow and Dataverse usage reports in the admin center.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Flow run history</a:t>
            </a:r>
          </a:p>
          <a:p>
            <a:pPr algn="l">
              <a:spcAft>
                <a:spcPts val="300"/>
              </a:spcAft>
            </a:pPr>
            <a:r>
              <a:rPr sz="1100" b="0">
                <a:solidFill>
                  <a:srgbClr val="5B6372"/>
                </a:solidFill>
                <a:latin typeface="Arial"/>
              </a:rPr>
              <a:t>Every run, every step, inputs and outputs — the first place to look on failure.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Audit history</a:t>
            </a:r>
          </a:p>
          <a:p>
            <a:pPr algn="l">
              <a:spcAft>
                <a:spcPts val="300"/>
              </a:spcAft>
            </a:pPr>
            <a:r>
              <a:rPr sz="1100" b="0">
                <a:solidFill>
                  <a:srgbClr val="5B6372"/>
                </a:solidFill>
                <a:latin typeface="Arial"/>
              </a:rPr>
              <a:t>Dataverse records who changed which column, and when.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privacy</a:t>
            </a:r>
          </a:p>
          <a:p>
            <a:pPr algn="l">
              <a:spcAft>
                <a:spcPts val="300"/>
              </a:spcAft>
            </a:pPr>
            <a:r>
              <a:rPr sz="1100" b="0">
                <a:solidFill>
                  <a:srgbClr val="5B6372"/>
                </a:solidFill>
                <a:latin typeface="Arial"/>
              </a:rPr>
              <a:t>Tenant-level compliance, retention policies and data residency by region.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Accessibility Checker</a:t>
            </a:r>
          </a:p>
          <a:p>
            <a:pPr algn="l">
              <a:spcAft>
                <a:spcPts val="300"/>
              </a:spcAft>
            </a:pPr>
            <a:r>
              <a:rPr sz="1100" b="0">
                <a:solidFill>
                  <a:srgbClr val="5B6372"/>
                </a:solidFill>
                <a:latin typeface="Arial"/>
              </a:rPr>
              <a:t>Built into Power Apps Studio — flags contrast, labels and tab order.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Design for everyone</a:t>
            </a:r>
          </a:p>
          <a:p>
            <a:pPr algn="l">
              <a:spcAft>
                <a:spcPts val="300"/>
              </a:spcAft>
            </a:pPr>
            <a:r>
              <a:rPr sz="1100" b="0">
                <a:solidFill>
                  <a:srgbClr val="5B6372"/>
                </a:solidFill>
                <a:latin typeface="Arial"/>
              </a:rPr>
              <a:t>Accessible names on controls, sensible tab order, no colour-only meaning.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 60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the Contoso Dataverse Data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create a Dataverse table with the full range of column types and populate it with business data.</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Contoso needs a central store for facilities request data. You create the Facility Request table in Dataverse, add text, date, currency and choice columns, and load the sample request data so later labs have something to display.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Facility Request table in Dataverse with seven columns — including three choice columns — and eight sample request rows.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maker portal, Microsoft Dataverse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Facility Request table lists eight rows; Category, Priority and Status render as choice labels; and Priority values map to Low=1, Medium=2, High=3, Urgent=4.</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Build the Contoso Dataverse Data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Go to the maker portal…</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Go to the maker portal, confirm your course environment is selected, and in the left navigation…</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Select the Primary Column tab…</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Select the Primary Column tab and set its Display name to 'Request Title', then select Save…</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Add a third column: Display…</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Add a third column: Display name 'Estimated Cost', Data type Currency. Leave the defaults and…</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Add the 'Status' choice…</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Add the 'Status' choice column with labels New, In Progress, Completed and Cancelled. Set…</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Switch the view to the grid…</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Switch the view to the grid and confirm all eight rows display with the correct choice labels…</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Facility Request table in Dataverse with seven columns — including three choice columns — and eight sample request rows.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the Contoso Dataverse Data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Facility Request table lists eight rows; Category, Priority and Status render as choice labels; and Priority values map to Low=1, Medium=2, High=3, Urgent=4.</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Table (advanced properties) is missing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are on the classic Tables view. Use + New table &gt; Table (advanced properties); if unavailable, create the table then rename the primary column afterwards.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Choice values are not 1–4</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Open the Priority column, select Edit choices, and correct the Value box next to each label. Lab 8's condition depends on High=3 and Urgent=4.</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Currency column will not save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environment needs a base currency. Open the admin center &gt; Environment &gt; Settings &gt; Product &gt; Currencies and confirm one is set.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 45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Create a Related Table with Copilot and Build a Relationship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use AI to create and edit tables and columns, and connect two tables with a lookup relationship.</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Contoso's requests need to be tied to a specific room. You create a Room table using the Copilot pane instead of the form designer, then add a lookup column on Facility Request so every request points at one room — a one-to-many relationship.</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Room table with five columns and three sample rows, plus a Room lookup column on Facility Request creating a one-to-many relationship.</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maker portal, Microsoft Dataverse, Copilot in Dataverse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Room table holds three rows, Facility Request has a working Room lookup that resolves to a room name, and the Relationships tab shows the one-to-many link.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Create a Related Table with Copilot and…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In the maker portal select…</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In the maker portal select Tables, then 'Start with a blank table'.</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In the Copilot pane, add…</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In the Copilot pane, add three text columns at once by entering: Add new columns named Campus…</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Add the three sample rows…</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Add the three sample rows from labs/lab-04-copilot-table-relationship/data/rooms.csv — 301 A…</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Under Schema select Columns…</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Under Schema select Columns, then + New column. Set Display name 'Room', Data type Lookup, and…</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Open the Room table and…</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the Room table and select Relationships. Confirm a one-to-many relationship from Room to…</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Room table with five columns and three sample rows, plus a Room lookup column on Facility Request creating a one-to-many relationship.</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Create a Related Table with Copilot and Build a Relationship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Room table holds three rows, Facility Request has a working Room lookup that resolves to a room name, and the Relationships tab shows the one-to-many link.</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Copilot pane is not visible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Copilot may be disabled for the environment or region. Add the columns manually with + New column — the learning outcome is the data model, not the tool.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Copilot created the wrong data type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Expected. Open the column, correct the type, and note the correction — reviewing AI output is part of the exam objective.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Lookup shows no rooms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Room rows were not saved. Reopen the Room table, confirm the rows persisted, then refresh the Facility Request form.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 60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Environments, Security, DLP and Solution-Based ALM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describe environments, the security model, data policies and how solutions and pipelines move work between environments.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Contoso must govern what makers can build. You examine the environment list, inspect security roles on the Dataverse table you built, design a DLP policy that separates business from non-business connectors, and package your work into a solution so it can be promoted from development to production.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governance pack: an environment strategy table, a security role mapping for the Facility Request table, a two-group DLP policy design, and an exported unmanaged solution containing your tables.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Platform admin center, Power Apps maker portal, Dataverse security roles, solutions and pipelines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 can name the purpose of each environment type, state the row-level scope for both Contoso personas, explain what your DLP policy blocks, and you hold an exported unmanaged solution .zip containing both tables.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Environments, Security, DLP and Solution…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Open the Power Platform admin…</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the Power Platform admin center and select Environments. Record the name, type and region…</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Map the Dataverse security…</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Map the Dataverse security model on paper: environment access, then security role, then table…</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Complete labs/lab-05…</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Complete labs/lab-05-governance-alm/data/dlp-policy-design.csv: place Dataverse, Office 365…</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Select Add existing &gt; Table…</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Select Add existing &gt; Table and add both Facility Request and Room, choosing to include all…</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Describe the ALM path in your…</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Describe the ALM path in your own words: Dev environment (unmanaged) → solution or Power…</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governance pack: an environment strategy table, a security role mapping for the Facility Request table, a two-group DLP policy design, and an exported unmanaged solution containing your tables.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Environments, Security, DLP and Solution-Based ALM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name the purpose of each environment type, state the row-level scope for both Contoso personas, explain what your DLP policy blocks, and you hold an exported unmanaged solution .zip containing both tables.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Data policies is greyed out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DLP policies need tenant or environment admin rights. Complete the design on paper — the exam objective is to DESCRIBE the policy, not to create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Solution export fails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component is still publishing. Select Publish all customizations on the solution, wait for it to finish, then export again.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Cannot see other environments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only see environments you have a role in. Record what is visible and note why the list is short.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Introduction to Dataverse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Dataverse adds metadata, security, logic and auditing on top of storage — it is not a spreadsheet.</a:t>
            </a:r>
          </a:p>
          <a:p>
            <a:pPr>
              <a:spcAft>
                <a:spcPts val="1000"/>
              </a:spcAft>
            </a:pPr>
            <a:r>
              <a:rPr sz="1600" b="0">
                <a:solidFill>
                  <a:srgbClr val="161B26"/>
                </a:solidFill>
                <a:latin typeface="Arial"/>
              </a:rPr>
              <a:t>•  Tables hold columns and rows; relationships connect tables, and the lookup lives on the many side.</a:t>
            </a:r>
          </a:p>
          <a:p>
            <a:pPr>
              <a:spcAft>
                <a:spcPts val="1000"/>
              </a:spcAft>
            </a:pPr>
            <a:r>
              <a:rPr sz="1600" b="0">
                <a:solidFill>
                  <a:srgbClr val="161B26"/>
                </a:solidFill>
                <a:latin typeface="Arial"/>
              </a:rPr>
              <a:t>•  A choice column stores an integer value behind its label — remember Priority 1–4.</a:t>
            </a:r>
          </a:p>
          <a:p>
            <a:pPr>
              <a:spcAft>
                <a:spcPts val="1000"/>
              </a:spcAft>
            </a:pPr>
            <a:r>
              <a:rPr sz="1600" b="0">
                <a:solidFill>
                  <a:srgbClr val="161B26"/>
                </a:solidFill>
                <a:latin typeface="Arial"/>
              </a:rPr>
              <a:t>•  Business rules first, then Power Fx, then flows, then code — always the lightest tool.</a:t>
            </a:r>
          </a:p>
          <a:p>
            <a:pPr>
              <a:spcAft>
                <a:spcPts val="1000"/>
              </a:spcAft>
            </a:pPr>
            <a:r>
              <a:rPr sz="1600" b="0">
                <a:solidFill>
                  <a:srgbClr val="161B26"/>
                </a:solidFill>
                <a:latin typeface="Arial"/>
              </a:rPr>
              <a:t>•  Environments isolate dev, test and production; solutions and pipelines move work between them.</a:t>
            </a:r>
          </a:p>
          <a:p>
            <a:pPr>
              <a:spcAft>
                <a:spcPts val="1000"/>
              </a:spcAft>
            </a:pPr>
            <a:r>
              <a:rPr sz="1600" b="0">
                <a:solidFill>
                  <a:srgbClr val="161B26"/>
                </a:solidFill>
                <a:latin typeface="Arial"/>
              </a:rPr>
              <a:t>•  The security model is layered: environment → role → table privilege → row scope → column.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Power Apps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Canvas apps · model-driven apps · Copilot-assisted app creation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K5 · A3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Introduction to Power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Power Apps is</a:t>
            </a:r>
          </a:p>
          <a:p>
            <a:pPr algn="l">
              <a:spcAft>
                <a:spcPts val="300"/>
              </a:spcAft>
            </a:pPr>
            <a:r>
              <a:rPr sz="1100" b="0">
                <a:solidFill>
                  <a:srgbClr val="5B6372"/>
                </a:solidFill>
                <a:latin typeface="Arial"/>
              </a:rPr>
              <a:t>A low-code app platform for building business applications that run in a browser and on mobile, over Dataverse or any connector.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Canvas apps</a:t>
            </a:r>
          </a:p>
          <a:p>
            <a:pPr algn="l">
              <a:spcAft>
                <a:spcPts val="300"/>
              </a:spcAft>
            </a:pPr>
            <a:r>
              <a:rPr sz="1100" b="0">
                <a:solidFill>
                  <a:srgbClr val="5B6372"/>
                </a:solidFill>
                <a:latin typeface="Arial"/>
              </a:rPr>
              <a:t>Pixel-precise, designer-driven apps. You start from the screen, drag controls onto the canvas and bind them with Power Fx — best for task-focused mobile apps.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Model-driven apps</a:t>
            </a:r>
          </a:p>
          <a:p>
            <a:pPr algn="l">
              <a:spcAft>
                <a:spcPts val="300"/>
              </a:spcAft>
            </a:pPr>
            <a:r>
              <a:rPr sz="1100" b="0">
                <a:solidFill>
                  <a:srgbClr val="5B6372"/>
                </a:solidFill>
                <a:latin typeface="Arial"/>
              </a:rPr>
              <a:t>Data-first apps generated from the Dataverse model. Forms, views and navigation come from the schema — best for complex, process-heavy desktop 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Fx (K5)</a:t>
            </a:r>
          </a:p>
          <a:p>
            <a:pPr algn="l">
              <a:spcAft>
                <a:spcPts val="300"/>
              </a:spcAft>
            </a:pPr>
            <a:r>
              <a:rPr sz="1100" b="0">
                <a:solidFill>
                  <a:srgbClr val="5B6372"/>
                </a:solidFill>
                <a:latin typeface="Arial"/>
              </a:rPr>
              <a:t>The Excel-like formula language behind canvas apps; functions such as SubmitForm, Navigate, Patch and Filter call the underlying data APIs for you.</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Copilot-assisted creation</a:t>
            </a:r>
          </a:p>
          <a:p>
            <a:pPr algn="l">
              <a:spcAft>
                <a:spcPts val="300"/>
              </a:spcAft>
            </a:pPr>
            <a:r>
              <a:rPr sz="1100" b="0">
                <a:solidFill>
                  <a:srgbClr val="5B6372"/>
                </a:solidFill>
                <a:latin typeface="Arial"/>
              </a:rPr>
              <a:t>Describe the app in natural language and Copilot drafts the tables, screens and logic — the maker then reviews and refines the result.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Plan designer and code apps</a:t>
            </a:r>
          </a:p>
          <a:p>
            <a:pPr algn="l">
              <a:spcAft>
                <a:spcPts val="300"/>
              </a:spcAft>
            </a:pPr>
            <a:r>
              <a:rPr sz="1100" b="0">
                <a:solidFill>
                  <a:srgbClr val="5B6372"/>
                </a:solidFill>
                <a:latin typeface="Arial"/>
              </a:rPr>
              <a:t>Plan designer turns a business problem into a proposed solution set; code apps let pro developers bring their own React/TypeScript UI onto Power Platform.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POWER APPS IN ONE LINE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Two ways to build. One data platform.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Canvas apps start from the screen and give you pixel control. Model-driven apps start from the data and give you the interface for free.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CHOOSE THE RIGHT APP TYPE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Canvas Apps vs Model-Driven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Canvas app</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Model-driven app</a:t>
            </a:r>
          </a:p>
        </p:txBody>
      </p:sp>
      <p:sp>
        <p:nvSpPr>
          <p:cNvPr id="13" name="Rectangle 12"/>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Starting point</a:t>
            </a:r>
          </a:p>
        </p:txBody>
      </p:sp>
      <p:sp>
        <p:nvSpPr>
          <p:cNvPr id="15" name="Rectangle 14"/>
          <p:cNvSpPr/>
          <p:nvPr/>
        </p:nvSpPr>
        <p:spPr>
          <a:xfrm>
            <a:off x="3542202"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A blank screen — you design the layout</a:t>
            </a:r>
          </a:p>
        </p:txBody>
      </p:sp>
      <p:sp>
        <p:nvSpPr>
          <p:cNvPr id="17" name="Rectangle 16"/>
          <p:cNvSpPr/>
          <p:nvPr/>
        </p:nvSpPr>
        <p:spPr>
          <a:xfrm>
            <a:off x="7476957"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The Dataverse data model</a:t>
            </a:r>
          </a:p>
        </p:txBody>
      </p:sp>
      <p:sp>
        <p:nvSpPr>
          <p:cNvPr id="19" name="Rectangle 18"/>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UI control</a:t>
            </a:r>
          </a:p>
        </p:txBody>
      </p:sp>
      <p:sp>
        <p:nvSpPr>
          <p:cNvPr id="21" name="Rectangle 20"/>
          <p:cNvSpPr/>
          <p:nvPr/>
        </p:nvSpPr>
        <p:spPr>
          <a:xfrm>
            <a:off x="3542202"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Pixel-precise; you place every control</a:t>
            </a:r>
          </a:p>
        </p:txBody>
      </p:sp>
      <p:sp>
        <p:nvSpPr>
          <p:cNvPr id="23" name="Rectangle 22"/>
          <p:cNvSpPr/>
          <p:nvPr/>
        </p:nvSpPr>
        <p:spPr>
          <a:xfrm>
            <a:off x="7476957"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Generated from forms, views and the site map</a:t>
            </a:r>
          </a:p>
        </p:txBody>
      </p:sp>
      <p:sp>
        <p:nvSpPr>
          <p:cNvPr id="25" name="Rectangle 24"/>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Data source</a:t>
            </a:r>
          </a:p>
        </p:txBody>
      </p:sp>
      <p:sp>
        <p:nvSpPr>
          <p:cNvPr id="27" name="Rectangle 26"/>
          <p:cNvSpPr/>
          <p:nvPr/>
        </p:nvSpPr>
        <p:spPr>
          <a:xfrm>
            <a:off x="3542202"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Any connector — Dataverse, SharePoint, SQL, Excel</a:t>
            </a:r>
          </a:p>
        </p:txBody>
      </p:sp>
      <p:sp>
        <p:nvSpPr>
          <p:cNvPr id="29" name="Rectangle 28"/>
          <p:cNvSpPr/>
          <p:nvPr/>
        </p:nvSpPr>
        <p:spPr>
          <a:xfrm>
            <a:off x="7476957"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Dataverse only</a:t>
            </a:r>
          </a:p>
        </p:txBody>
      </p:sp>
      <p:sp>
        <p:nvSpPr>
          <p:cNvPr id="31" name="Rectangle 30"/>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33" name="Rectangle 32"/>
          <p:cNvSpPr/>
          <p:nvPr/>
        </p:nvSpPr>
        <p:spPr>
          <a:xfrm>
            <a:off x="3542202"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Task-focused mobile and tablet apps</a:t>
            </a:r>
          </a:p>
        </p:txBody>
      </p:sp>
      <p:sp>
        <p:nvSpPr>
          <p:cNvPr id="35" name="Rectangle 34"/>
          <p:cNvSpPr/>
          <p:nvPr/>
        </p:nvSpPr>
        <p:spPr>
          <a:xfrm>
            <a:off x="7476957"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Complex, process-heavy desktop applications</a:t>
            </a:r>
          </a:p>
        </p:txBody>
      </p:sp>
      <p:sp>
        <p:nvSpPr>
          <p:cNvPr id="37" name="Rectangle 3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Logic</a:t>
            </a:r>
          </a:p>
        </p:txBody>
      </p:sp>
      <p:sp>
        <p:nvSpPr>
          <p:cNvPr id="39" name="Rectangle 38"/>
          <p:cNvSpPr/>
          <p:nvPr/>
        </p:nvSpPr>
        <p:spPr>
          <a:xfrm>
            <a:off x="3542202"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Power Fx formulas on control properties</a:t>
            </a:r>
          </a:p>
        </p:txBody>
      </p:sp>
      <p:sp>
        <p:nvSpPr>
          <p:cNvPr id="41" name="Rectangle 40"/>
          <p:cNvSpPr/>
          <p:nvPr/>
        </p:nvSpPr>
        <p:spPr>
          <a:xfrm>
            <a:off x="7476957"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Business rules, business process flows, forms</a:t>
            </a:r>
          </a:p>
        </p:txBody>
      </p:sp>
      <p:sp>
        <p:nvSpPr>
          <p:cNvPr id="43" name="Rectangle 42"/>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Responsive</a:t>
            </a:r>
          </a:p>
        </p:txBody>
      </p:sp>
      <p:sp>
        <p:nvSpPr>
          <p:cNvPr id="45" name="Rectangle 44"/>
          <p:cNvSpPr/>
          <p:nvPr/>
        </p:nvSpPr>
        <p:spPr>
          <a:xfrm>
            <a:off x="3542202"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You design it, including for phones</a:t>
            </a:r>
          </a:p>
        </p:txBody>
      </p:sp>
      <p:sp>
        <p:nvSpPr>
          <p:cNvPr id="47" name="Rectangle 46"/>
          <p:cNvSpPr/>
          <p:nvPr/>
        </p:nvSpPr>
        <p:spPr>
          <a:xfrm>
            <a:off x="7476957"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Responsive automatically</a:t>
            </a:r>
          </a:p>
        </p:txBody>
      </p:sp>
      <p:sp>
        <p:nvSpPr>
          <p:cNvPr id="49" name="Rectangle 48"/>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Contoso use</a:t>
            </a:r>
          </a:p>
        </p:txBody>
      </p:sp>
      <p:sp>
        <p:nvSpPr>
          <p:cNvPr id="51" name="Rectangle 50"/>
          <p:cNvSpPr/>
          <p:nvPr/>
        </p:nvSpPr>
        <p:spPr>
          <a:xfrm>
            <a:off x="3542202"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Employee submits a request from a phone</a:t>
            </a:r>
          </a:p>
        </p:txBody>
      </p:sp>
      <p:sp>
        <p:nvSpPr>
          <p:cNvPr id="53" name="Rectangle 52"/>
          <p:cNvSpPr/>
          <p:nvPr/>
        </p:nvSpPr>
        <p:spPr>
          <a:xfrm>
            <a:off x="7476957"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Facilities team triages all requests</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This comparison is one of the most heavily weighted areas of the PL-900 exam — be able to pick the right app type from a described scenario.</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A1 · CHOOSING THE RIGHT TOOL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Canvas or model-driven?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the priority a specific, branded layout on a phone — or managing complex records at a desk?</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Specific layout / mobile → CANVAS</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You need pixel control, a non-Dataverse source, or a task-focused mobile experience.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Complex records / desktop → MODEL-DRIVEN</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data model is rich, the process is staged, and consistency matters more than layout.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If the answer is genuinely 'both', build both — they share the same Dataverse tables, so there is no duplicated data.</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POWER APPS STUDIO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Canvas App Building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Screens</a:t>
            </a:r>
          </a:p>
          <a:p>
            <a:pPr algn="l">
              <a:spcAft>
                <a:spcPts val="300"/>
              </a:spcAft>
            </a:pPr>
            <a:r>
              <a:rPr sz="1100" b="0">
                <a:solidFill>
                  <a:srgbClr val="5B6372"/>
                </a:solidFill>
                <a:latin typeface="Arial"/>
              </a:rPr>
              <a:t>Each screen is a page; apps navigate between them with Navigate().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Gallery</a:t>
            </a:r>
          </a:p>
          <a:p>
            <a:pPr algn="l">
              <a:spcAft>
                <a:spcPts val="300"/>
              </a:spcAft>
            </a:pPr>
            <a:r>
              <a:rPr sz="1100" b="0">
                <a:solidFill>
                  <a:srgbClr val="5B6372"/>
                </a:solidFill>
                <a:latin typeface="Arial"/>
              </a:rPr>
              <a:t>A repeating list bound to a data source — the browse screen's core control.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Display form</a:t>
            </a:r>
          </a:p>
          <a:p>
            <a:pPr algn="l">
              <a:spcAft>
                <a:spcPts val="300"/>
              </a:spcAft>
            </a:pPr>
            <a:r>
              <a:rPr sz="1100" b="0">
                <a:solidFill>
                  <a:srgbClr val="5B6372"/>
                </a:solidFill>
                <a:latin typeface="Arial"/>
              </a:rPr>
              <a:t>Shows one record's fields, read-only, using data cards.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Edit form</a:t>
            </a:r>
          </a:p>
          <a:p>
            <a:pPr algn="l">
              <a:spcAft>
                <a:spcPts val="300"/>
              </a:spcAft>
            </a:pPr>
            <a:r>
              <a:rPr sz="1100" b="0">
                <a:solidFill>
                  <a:srgbClr val="5B6372"/>
                </a:solidFill>
                <a:latin typeface="Arial"/>
              </a:rPr>
              <a:t>Edits or creates one record; SubmitForm() writes it back.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Input controls</a:t>
            </a:r>
          </a:p>
          <a:p>
            <a:pPr algn="l">
              <a:spcAft>
                <a:spcPts val="300"/>
              </a:spcAft>
            </a:pPr>
            <a:r>
              <a:rPr sz="1100" b="0">
                <a:solidFill>
                  <a:srgbClr val="5B6372"/>
                </a:solidFill>
                <a:latin typeface="Arial"/>
              </a:rPr>
              <a:t>Text input, dropdown, date picker, toggle, slider, attachments.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Intelligent controls</a:t>
            </a:r>
          </a:p>
          <a:p>
            <a:pPr algn="l">
              <a:spcAft>
                <a:spcPts val="300"/>
              </a:spcAft>
            </a:pPr>
            <a:r>
              <a:rPr sz="1100" b="0">
                <a:solidFill>
                  <a:srgbClr val="5B6372"/>
                </a:solidFill>
                <a:latin typeface="Arial"/>
              </a:rPr>
              <a:t>Barcode reader, camera, AI Builder components such as text recognition.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 · FUNCTIONS OF APIs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Fx — the formulas behind the app  (K5)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Power Fx is Excel-like and declarative. Each formula sits on a control property and calls the underlying data API for you.</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Show the signed-in user in the header</a:t>
            </a:r>
          </a:p>
          <a:p>
            <a:pPr>
              <a:spcAft>
                <a:spcPts val="200"/>
              </a:spcAft>
            </a:pPr>
            <a:r>
              <a:rPr sz="1100">
                <a:solidFill>
                  <a:srgbClr val="9CDCFE"/>
                </a:solidFill>
                <a:latin typeface="Consolas"/>
              </a:rPr>
              <a:t>User().FullName</a:t>
            </a:r>
          </a:p>
          <a:p>
            <a:pPr>
              <a:spcAft>
                <a:spcPts val="200"/>
              </a:spcAft>
            </a:pPr>
            <a:r>
              <a:rPr sz="1100">
                <a:solidFill>
                  <a:srgbClr val="9CDCFE"/>
                </a:solidFill>
                <a:latin typeface="Consolas"/>
              </a:rPr>
              <a:t/>
            </a:r>
          </a:p>
          <a:p>
            <a:pPr>
              <a:spcAft>
                <a:spcPts val="200"/>
              </a:spcAft>
            </a:pPr>
            <a:r>
              <a:rPr sz="1100">
                <a:solidFill>
                  <a:srgbClr val="9CDCFE"/>
                </a:solidFill>
                <a:latin typeface="Consolas"/>
              </a:rPr>
              <a:t>// Reset the form to a NEW blank record, then go to the screen</a:t>
            </a:r>
          </a:p>
          <a:p>
            <a:pPr>
              <a:spcAft>
                <a:spcPts val="200"/>
              </a:spcAft>
            </a:pPr>
            <a:r>
              <a:rPr sz="1100">
                <a:solidFill>
                  <a:srgbClr val="9CDCFE"/>
                </a:solidFill>
                <a:latin typeface="Consolas"/>
              </a:rPr>
              <a:t>NewForm(Form2); Navigate('New Room Screen')</a:t>
            </a:r>
          </a:p>
          <a:p>
            <a:pPr>
              <a:spcAft>
                <a:spcPts val="200"/>
              </a:spcAft>
            </a:pPr>
            <a:r>
              <a:rPr sz="1100">
                <a:solidFill>
                  <a:srgbClr val="9CDCFE"/>
                </a:solidFill>
                <a:latin typeface="Consolas"/>
              </a:rPr>
              <a:t/>
            </a:r>
          </a:p>
          <a:p>
            <a:pPr>
              <a:spcAft>
                <a:spcPts val="200"/>
              </a:spcAft>
            </a:pPr>
            <a:r>
              <a:rPr sz="1100">
                <a:solidFill>
                  <a:srgbClr val="9CDCFE"/>
                </a:solidFill>
                <a:latin typeface="Consolas"/>
              </a:rPr>
              <a:t>// Write the form back to Dataverse, then return to the list</a:t>
            </a:r>
          </a:p>
          <a:p>
            <a:pPr>
              <a:spcAft>
                <a:spcPts val="200"/>
              </a:spcAft>
            </a:pPr>
            <a:r>
              <a:rPr sz="1100">
                <a:solidFill>
                  <a:srgbClr val="9CDCFE"/>
                </a:solidFill>
                <a:latin typeface="Consolas"/>
              </a:rPr>
              <a:t>SubmitForm(Form2); Navigate('Facility Requests screen')</a:t>
            </a:r>
          </a:p>
          <a:p>
            <a:pPr>
              <a:spcAft>
                <a:spcPts val="200"/>
              </a:spcAft>
            </a:pPr>
            <a:r>
              <a:rPr sz="1100">
                <a:solidFill>
                  <a:srgbClr val="9CDCFE"/>
                </a:solidFill>
                <a:latin typeface="Consolas"/>
              </a:rPr>
              <a:t/>
            </a:r>
          </a:p>
          <a:p>
            <a:pPr>
              <a:spcAft>
                <a:spcPts val="200"/>
              </a:spcAft>
            </a:pPr>
            <a:r>
              <a:rPr sz="1100">
                <a:solidFill>
                  <a:srgbClr val="9CDCFE"/>
                </a:solidFill>
                <a:latin typeface="Consolas"/>
              </a:rPr>
              <a:t>// Show only the open, high-priority requests</a:t>
            </a:r>
          </a:p>
          <a:p>
            <a:pPr>
              <a:spcAft>
                <a:spcPts val="200"/>
              </a:spcAft>
            </a:pPr>
            <a:r>
              <a:rPr sz="1100">
                <a:solidFill>
                  <a:srgbClr val="D4D4D4"/>
                </a:solidFill>
                <a:latin typeface="Consolas"/>
              </a:rPr>
              <a:t>Filter('Facility Requests', Status = 'Status'.New)</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User()</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Reads the signed-in identity from the Office 365 Users connector — no auth code needed.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NewForm()</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Resets the form to create mode. Omit it and SubmitForm UPDATES the last record.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SubmitForm()</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Validates the form and writes the row via the Dataverse API — one function, a full API call.</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Filter()</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Delegates the query to the data source where possible, so large tables stay fast.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MAKER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 Canvas App from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Choose the data</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Start from Dataverse, SharePoint, Excel or any connector.</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Generate the app</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Power Apps builds browse, detail and edit screens automatically.</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Customise</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Reformat the gallery, add labels, add screens and set Power Fx properties.</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Test in Preview</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Play the app and exercise every path, including creating a record.</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Save and publish</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Publish this version so users get the update.</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generated three-screen app is a starting point, not the finished product — the value is in what you customise afterwards.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GENERATED FROM THE DATA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Model-Driven App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Site map</a:t>
            </a:r>
          </a:p>
          <a:p>
            <a:pPr algn="l">
              <a:spcAft>
                <a:spcPts val="300"/>
              </a:spcAft>
            </a:pPr>
            <a:r>
              <a:rPr sz="1100" b="0">
                <a:solidFill>
                  <a:srgbClr val="5B6372"/>
                </a:solidFill>
                <a:latin typeface="Arial"/>
              </a:rPr>
              <a:t>The navigation — areas, groups and subareas the user sees on the left.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Forms</a:t>
            </a:r>
          </a:p>
          <a:p>
            <a:pPr algn="l">
              <a:spcAft>
                <a:spcPts val="300"/>
              </a:spcAft>
            </a:pPr>
            <a:r>
              <a:rPr sz="1100" b="0">
                <a:solidFill>
                  <a:srgbClr val="5B6372"/>
                </a:solidFill>
                <a:latin typeface="Arial"/>
              </a:rPr>
              <a:t>Main, quick view, quick create and card forms for a table.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Views</a:t>
            </a:r>
          </a:p>
          <a:p>
            <a:pPr algn="l">
              <a:spcAft>
                <a:spcPts val="300"/>
              </a:spcAft>
            </a:pPr>
            <a:r>
              <a:rPr sz="1100" b="0">
                <a:solidFill>
                  <a:srgbClr val="5B6372"/>
                </a:solidFill>
                <a:latin typeface="Arial"/>
              </a:rPr>
              <a:t>Saved queries — Active Facility Requests, My Requests, and so 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process flow</a:t>
            </a:r>
          </a:p>
          <a:p>
            <a:pPr algn="l">
              <a:spcAft>
                <a:spcPts val="300"/>
              </a:spcAft>
            </a:pPr>
            <a:r>
              <a:rPr sz="1100" b="0">
                <a:solidFill>
                  <a:srgbClr val="5B6372"/>
                </a:solidFill>
                <a:latin typeface="Arial"/>
              </a:rPr>
              <a:t>Guides the user through stages: Submitted → Approved → In Progress → Done.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rules</a:t>
            </a:r>
          </a:p>
          <a:p>
            <a:pPr algn="l">
              <a:spcAft>
                <a:spcPts val="300"/>
              </a:spcAft>
            </a:pPr>
            <a:r>
              <a:rPr sz="1100" b="0">
                <a:solidFill>
                  <a:srgbClr val="5B6372"/>
                </a:solidFill>
                <a:latin typeface="Arial"/>
              </a:rPr>
              <a:t>No-code field logic that runs on every client automatically.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Charts and dashboards</a:t>
            </a:r>
          </a:p>
          <a:p>
            <a:pPr algn="l">
              <a:spcAft>
                <a:spcPts val="300"/>
              </a:spcAft>
            </a:pPr>
            <a:r>
              <a:rPr sz="1100" b="0">
                <a:solidFill>
                  <a:srgbClr val="5B6372"/>
                </a:solidFill>
                <a:latin typeface="Arial"/>
              </a:rPr>
              <a:t>In-app visualisations built on the same Dataverse views.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BUILD WITH COPILOT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App Creation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Describe it in words</a:t>
            </a:r>
          </a:p>
          <a:p>
            <a:pPr algn="l">
              <a:spcAft>
                <a:spcPts val="300"/>
              </a:spcAft>
            </a:pPr>
            <a:r>
              <a:rPr sz="1100" b="0">
                <a:solidFill>
                  <a:srgbClr val="5B6372"/>
                </a:solidFill>
                <a:latin typeface="Arial"/>
              </a:rPr>
              <a:t>Tell Copilot what the app should do and it drafts tables, screens and logic.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Copilot in Studio</a:t>
            </a:r>
          </a:p>
          <a:p>
            <a:pPr algn="l">
              <a:spcAft>
                <a:spcPts val="300"/>
              </a:spcAft>
            </a:pPr>
            <a:r>
              <a:rPr sz="1100" b="0">
                <a:solidFill>
                  <a:srgbClr val="5B6372"/>
                </a:solidFill>
                <a:latin typeface="Arial"/>
              </a:rPr>
              <a:t>Ask for changes in natural language while you build — add a screen, change a control.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vibe experience</a:t>
            </a:r>
          </a:p>
          <a:p>
            <a:pPr algn="l">
              <a:spcAft>
                <a:spcPts val="300"/>
              </a:spcAft>
            </a:pPr>
            <a:r>
              <a:rPr sz="1100" b="0">
                <a:solidFill>
                  <a:srgbClr val="5B6372"/>
                </a:solidFill>
                <a:latin typeface="Arial"/>
              </a:rPr>
              <a:t>Iteratively refine an AI-generated app by describing what you want changed.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Copilot in Dataverse</a:t>
            </a:r>
          </a:p>
          <a:p>
            <a:pPr algn="l">
              <a:spcAft>
                <a:spcPts val="300"/>
              </a:spcAft>
            </a:pPr>
            <a:r>
              <a:rPr sz="1100" b="0">
                <a:solidFill>
                  <a:srgbClr val="5B6372"/>
                </a:solidFill>
                <a:latin typeface="Arial"/>
              </a:rPr>
              <a:t>Create and edit tables, columns and relationships by prompt — as in Lab 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Plan designer</a:t>
            </a:r>
          </a:p>
          <a:p>
            <a:pPr algn="l">
              <a:spcAft>
                <a:spcPts val="300"/>
              </a:spcAft>
            </a:pPr>
            <a:r>
              <a:rPr sz="1100" b="0">
                <a:solidFill>
                  <a:srgbClr val="5B6372"/>
                </a:solidFill>
                <a:latin typeface="Arial"/>
              </a:rPr>
              <a:t>Turns a business problem into a proposed set of tables, apps, flows and agents.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maker still owns it</a:t>
            </a:r>
          </a:p>
          <a:p>
            <a:pPr algn="l">
              <a:spcAft>
                <a:spcPts val="300"/>
              </a:spcAft>
            </a:pPr>
            <a:r>
              <a:rPr sz="1100" b="0">
                <a:solidFill>
                  <a:srgbClr val="5B6372"/>
                </a:solidFill>
                <a:latin typeface="Arial"/>
              </a:rPr>
              <a:t>AI drafts; you review, correct and test. Never publish unreviewed output.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WHEN LOW-CODE ISN'T ENOUGH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Code Apps and Extensibility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Code apps</a:t>
            </a:r>
          </a:p>
          <a:p>
            <a:pPr algn="l">
              <a:spcAft>
                <a:spcPts val="300"/>
              </a:spcAft>
            </a:pPr>
            <a:r>
              <a:rPr sz="1200" b="0">
                <a:solidFill>
                  <a:srgbClr val="5B6372"/>
                </a:solidFill>
                <a:latin typeface="Arial"/>
              </a:rPr>
              <a:t>Pro developers bring their own React/TypeScript UI and host it on Power Platform.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PCF components</a:t>
            </a:r>
          </a:p>
          <a:p>
            <a:pPr algn="l">
              <a:spcAft>
                <a:spcPts val="300"/>
              </a:spcAft>
            </a:pPr>
            <a:r>
              <a:rPr sz="1200" b="0">
                <a:solidFill>
                  <a:srgbClr val="5B6372"/>
                </a:solidFill>
                <a:latin typeface="Arial"/>
              </a:rPr>
              <a:t>Custom controls that drop into canvas and model-driven apps.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When to use them</a:t>
            </a:r>
          </a:p>
          <a:p>
            <a:pPr algn="l">
              <a:spcAft>
                <a:spcPts val="300"/>
              </a:spcAft>
            </a:pPr>
            <a:r>
              <a:rPr sz="1200" b="0">
                <a:solidFill>
                  <a:srgbClr val="5B6372"/>
                </a:solidFill>
                <a:latin typeface="Arial"/>
              </a:rPr>
              <a:t>When the required UX genuinely cannot be built with the standard controls.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trade-off</a:t>
            </a:r>
          </a:p>
          <a:p>
            <a:pPr algn="l">
              <a:spcAft>
                <a:spcPts val="300"/>
              </a:spcAft>
            </a:pPr>
            <a:r>
              <a:rPr sz="1200" b="0">
                <a:solidFill>
                  <a:srgbClr val="5B6372"/>
                </a:solidFill>
                <a:latin typeface="Arial"/>
              </a:rPr>
              <a:t>Full control, but you give up low-code maintainability and need developer skills.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 60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Canvas App on Dataverse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build a canvas app connected to a Dataverse table and customise its screens, galleries and forms.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Contoso employees need a mobile-friendly way to see and submit facilities requests. You generate a three-screen canvas app from the Facility Request table, then customise the header with the signed-in user's name and format the gallery so it shows the information a coordinator actually needs.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published canvas app named 'Facility Request App' with a browse gallery, a detail screen, an edit form and a personalised welcome header.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Studio, Microsoft Dataverse, Power Fx</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published app opens in Play mode, the gallery lists all eight Facility Request rows, your full name renders in the header, and selecting a row opens its details.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Build a Canvas App on Dataverse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In the maker portal select +…</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In the maker portal select + Create, then under 'Start from data' select Dataverse.</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Explore the Tree view</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Explore the Tree view. Identify the gallery on the browse screen, the display form on the…</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Insert a second Text label…</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Insert a second Text label and set its Text property to the Power Fx expression below, which…</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Select the Play button to…</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Select the Play button to preview. Confirm the gallery lists your eight rows and your own name…</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Select Save, name the app…</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Select Save, name the app 'Facility Request App', then select Publish and 'Publish this…</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published canvas app named 'Facility Request App' with a browse gallery, a detail screen, an edit form and a personalised welcome header.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Canvas App on Dataverse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published app opens in Play mode, the gallery lists all eight Facility Request rows, your full name renders in the header, and selecting a row opens its details.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User().FullName shows blank</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app needs the Office 365 Users connection. Select Data &gt; + Add data &gt; Office 365 Users, then re-run the preview.</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Gallery is empty</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app is pointed at an empty table or the wrong environment. Confirm the environment picker matches Lab 3 and that the table still holds its rows.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Cannot find the Text property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Select the control first, then choose Text in the property dropdown at the top left of the formula bar.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 60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Extend the Canvas App with a New Screen and Power Fx Navigation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add a screen and a form to a canvas app and wire navigation with Power Fx functions that call the underlying data API.</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Coordinators also need to add rooms without leaving the app. You add a second screen containing an edit form bound to the Room table, then use the Power Fx functions NewForm, SubmitForm and Navigate to move between screens and commit the record — API-level integration expressed as formulas.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second screen, 'New Room Screen', with a working Room edit form and two buttons that navigate between the request list and the room form.</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Studio, Microsoft Dataverse, Power Fx</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Selecting New Room opens a blank Room form; Submit writes the row to the Dataverse Room table and returns you to the request list; the new room is visible in the maker portal.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Extend the Canvas App with a New Screen and…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Open Facility Request App in…</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Facility Request App in Power Apps Studio and select Edit.</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Select + in the header…</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Select + in the header container, insert a Text label, and set its Text property to "Add New…</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If the form shows system…</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If the form shows system columns such as Import Sequence Number, Time Zone Rule Version Number…</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Return to the Facility…</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Return to the Facility Requests screen, select the gallery, and from the command bar insert a…</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Open the Room table in the…</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the Room table in the maker portal and confirm the new room was written to Dataverse. Save…</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second screen, 'New Room Screen', with a working Room edit form and two buttons that navigate between the request list and the room form.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Extend the Canvas App with a New Screen and Power Fx Navigation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Selecting New Room opens a blank Room form; Submit writes the row to the Dataverse Room table and returns you to the request list; the new room is visible in the maker portal.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Submit does nothing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formula names the wrong form. Check the form's actual name in Tree view — it may be Form1 rather than Form2 — and update SubmitForm() to match.</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form saves over an existing room</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NewForm() is missing from the navigation button. Without it the form keeps the last selected record and SubmitForm updates rather than creates.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Navigate reports the screen does not exist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Screen names are literal. Use the exact name from Tree view, in single quotes if it contains spaces.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 60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Model-Driven App with Custom Forms and Views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build a model-driven app from the Dataverse model, customise its form and view, and publish it.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facilities team manages requests all day on a desktop, so they need a full-featured app rather than a mobile canvas. You build a model-driven app using the modern designer, group its navigation, then customise the Facility Request main form and the Active Facility Requests view so the columns the team needs are visible.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published model-driven app, 'Contoso Facilities Management', with grouped navigation, a customised main form and a customised public view.</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modern app designer, Microsoft Dataverse, forms and views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published app opens with grouped navigation; the Active Facility Requests view shows the six added columns; and a record's form shows Owner and Status in the header with the other fields in the order you set.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Build a Model-Driven App with Custom Forms…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In the maker portal select +…</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In the maker portal select + Create, then choose 'Blank Page with navigation'. Name the app…</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On the left select Pages</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On the left select Pages. Under Navigation select New group and rename it to 'Customers'.</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Open the Information form…</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the Information form whose Form type is Main, using Commands (...) &gt; Edit &gt; Edit in new…</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Back on the table, under Data…</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Back on the table, under Data experiences select Views, and edit the 'Active Facility Requests'…</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Verify the navigation shows…</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Verify the navigation shows the Facilities group, the list view shows your columns, and opening…</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published model-driven app, 'Contoso Facilities Management', with grouped navigation, a customised main form and a customised public view.</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Model-Driven App with Custom Forms and Views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published app opens with grouped navigation; the Active Facility Requests view shows the six added columns; and a record's form shows Owner and Status in the header with the other fields in the order you set.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Changes do not appear in the app</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Forms and views must be published separately from the app. Select Save and publish in the form/view designer, then Save and Publish the app.</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Move down will not place the view in the group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Groups only accept pages below them. Keep selecting Move down until the item indents under the group heading.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table is missing from + Add page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are in the wrong environment. Check the environment picker matches Lab 3.</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Introduction to Power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Canvas apps start from the screen and give pixel control over any data source.</a:t>
            </a:r>
          </a:p>
          <a:p>
            <a:pPr>
              <a:spcAft>
                <a:spcPts val="1000"/>
              </a:spcAft>
            </a:pPr>
            <a:r>
              <a:rPr sz="1600" b="0">
                <a:solidFill>
                  <a:srgbClr val="161B26"/>
                </a:solidFill>
                <a:latin typeface="Arial"/>
              </a:rPr>
              <a:t>•  Model-driven apps start from the Dataverse model and generate the interface for you.</a:t>
            </a:r>
          </a:p>
          <a:p>
            <a:pPr>
              <a:spcAft>
                <a:spcPts val="1000"/>
              </a:spcAft>
            </a:pPr>
            <a:r>
              <a:rPr sz="1600" b="0">
                <a:solidFill>
                  <a:srgbClr val="161B26"/>
                </a:solidFill>
                <a:latin typeface="Arial"/>
              </a:rPr>
              <a:t>•  Galleries browse, display forms read, and edit forms create and update.</a:t>
            </a:r>
          </a:p>
          <a:p>
            <a:pPr>
              <a:spcAft>
                <a:spcPts val="1000"/>
              </a:spcAft>
            </a:pPr>
            <a:r>
              <a:rPr sz="1600" b="0">
                <a:solidFill>
                  <a:srgbClr val="161B26"/>
                </a:solidFill>
                <a:latin typeface="Arial"/>
              </a:rPr>
              <a:t>•  Power Fx functions such as SubmitForm, NewForm, Navigate and Filter call the data API for you.</a:t>
            </a:r>
          </a:p>
          <a:p>
            <a:pPr>
              <a:spcAft>
                <a:spcPts val="1000"/>
              </a:spcAft>
            </a:pPr>
            <a:r>
              <a:rPr sz="1600" b="0">
                <a:solidFill>
                  <a:srgbClr val="161B26"/>
                </a:solidFill>
                <a:latin typeface="Arial"/>
              </a:rPr>
              <a:t>•  Copilot can draft tables, apps and screens — the maker must always review and test the output.</a:t>
            </a:r>
          </a:p>
          <a:p>
            <a:pPr>
              <a:spcAft>
                <a:spcPts val="1000"/>
              </a:spcAft>
            </a:pPr>
            <a:r>
              <a:rPr sz="1600" b="0">
                <a:solidFill>
                  <a:srgbClr val="161B26"/>
                </a:solidFill>
                <a:latin typeface="Arial"/>
              </a:rPr>
              <a:t>•  Plan designer scopes a solution; code apps and PCF extend it when low-code is not enough.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Power Automate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 desktop and business process flows · triggers, actions, approvals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K5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Introduction to Power Automate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Power Automate is</a:t>
            </a:r>
          </a:p>
          <a:p>
            <a:pPr algn="l">
              <a:spcAft>
                <a:spcPts val="300"/>
              </a:spcAft>
            </a:pPr>
            <a:r>
              <a:rPr sz="1100" b="0">
                <a:solidFill>
                  <a:srgbClr val="5B6372"/>
                </a:solidFill>
                <a:latin typeface="Arial"/>
              </a:rPr>
              <a:t>A workflow engine that connects services and automates repetitive work, from an email notification to a full RPA robot driving a legacy desktop app.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Three flow types</a:t>
            </a:r>
          </a:p>
          <a:p>
            <a:pPr algn="l">
              <a:spcAft>
                <a:spcPts val="300"/>
              </a:spcAft>
            </a:pPr>
            <a:r>
              <a:rPr sz="1100" b="0">
                <a:solidFill>
                  <a:srgbClr val="5B6372"/>
                </a:solidFill>
                <a:latin typeface="Arial"/>
              </a:rPr>
              <a:t>Cloud flows run in the service; desktop flows (RPA) drive the Windows UI; business process flows guide a person through a staged process.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Triggers and actions (K5)</a:t>
            </a:r>
          </a:p>
          <a:p>
            <a:pPr algn="l">
              <a:spcAft>
                <a:spcPts val="300"/>
              </a:spcAft>
            </a:pPr>
            <a:r>
              <a:rPr sz="1100" b="0">
                <a:solidFill>
                  <a:srgbClr val="5B6372"/>
                </a:solidFill>
                <a:latin typeface="Arial"/>
              </a:rPr>
              <a:t>A trigger starts the flow — automated, instant or scheduled — and each action calls a connector operation, which is an API call under the hood.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Conditions and loops</a:t>
            </a:r>
          </a:p>
          <a:p>
            <a:pPr algn="l">
              <a:spcAft>
                <a:spcPts val="300"/>
              </a:spcAft>
            </a:pPr>
            <a:r>
              <a:rPr sz="1100" b="0">
                <a:solidFill>
                  <a:srgbClr val="5B6372"/>
                </a:solidFill>
                <a:latin typeface="Arial"/>
              </a:rPr>
              <a:t>Condition, Switch, Apply to each and Do Until add branching and iteration; expressions transform values in transit.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Approvals</a:t>
            </a:r>
          </a:p>
          <a:p>
            <a:pPr algn="l">
              <a:spcAft>
                <a:spcPts val="300"/>
              </a:spcAft>
            </a:pPr>
            <a:r>
              <a:rPr sz="1100" b="0">
                <a:solidFill>
                  <a:srgbClr val="5B6372"/>
                </a:solidFill>
                <a:latin typeface="Arial"/>
              </a:rPr>
              <a:t>The Approvals connector sends an actionable request to Teams or Outlook and waits for the outcome before continuing the 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Copilot in Power Automate</a:t>
            </a:r>
          </a:p>
          <a:p>
            <a:pPr algn="l">
              <a:spcAft>
                <a:spcPts val="300"/>
              </a:spcAft>
            </a:pPr>
            <a:r>
              <a:rPr sz="1100" b="0">
                <a:solidFill>
                  <a:srgbClr val="5B6372"/>
                </a:solidFill>
                <a:latin typeface="Arial"/>
              </a:rPr>
              <a:t>Describe the automation in words and Copilot builds the trigger, condition and actions, which you then verify and test.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POWER AUTOMATE IN ONE LINE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If you do it twice, automate 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Power Automate connects services and removes the manual steps between them — from one email to a robot driving a legacy application.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CLOUD · DESKTOP · BUSINESS PROCESS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Types of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Flow type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Runs where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Contoso example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Cloud flow</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Connects cloud services with triggers and actions</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 the Power Platform service</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Notify the team on a high-priority request</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Desktop flow (RPA)</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Drives the Windows/web UI like a person would</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On a Windows machine</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Read room data from the legacy Building Services app</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Business process flow</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Guides a PERSON through staged work</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Inside a model-driven app</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Submitted → Approved → In Progress → Completed</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 business process flow does not run by itself — it is a guided UI for a human. That distinction is a common exam question.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TRIGGERS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Ways a Cloud Flow Starts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Trigger 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Starts when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Automated</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An event happens in a connected service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row is added to Facility Requests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Instant (button)</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person presses a button or runs it manually</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'Report an outage' button in Teams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Scheduled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recurrence timer fires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weekly open-requests summary every Monday 8am</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Every cloud flow has exactly ONE trigger and one or more actions. A flow with no trigger cannot exist.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THE FLOW YOU WILL BUILD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 Cloud Flow  (K5)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Trigger</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When a row is added to Facility Requests — the event that starts everything.</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Get the data</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Get a row by ID — the trigger returns only the ID, so fetch the full record.</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Condition</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Is Priority equal to 3 (High) OR 4 (Urgent)?</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Action (if yes)</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Send an email (V2) via the Office 365 Outlook connector.</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Nothing (if no)</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The false branch stays empty — correctly doing nothing is a valid outcome.</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Each action is an API call the connector makes for you — this is API-level integration (A4) without writing a single line of request code.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CONDITIONS · LOOPS · EXPRESSIONS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Control the Flow's Logic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Condition</a:t>
            </a:r>
          </a:p>
          <a:p>
            <a:pPr algn="l">
              <a:spcAft>
                <a:spcPts val="300"/>
              </a:spcAft>
            </a:pPr>
            <a:r>
              <a:rPr sz="1100" b="0">
                <a:solidFill>
                  <a:srgbClr val="5B6372"/>
                </a:solidFill>
                <a:latin typeface="Arial"/>
              </a:rPr>
              <a:t>A single if/then/else branch on one or more tests.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Switch</a:t>
            </a:r>
          </a:p>
          <a:p>
            <a:pPr algn="l">
              <a:spcAft>
                <a:spcPts val="300"/>
              </a:spcAft>
            </a:pPr>
            <a:r>
              <a:rPr sz="1100" b="0">
                <a:solidFill>
                  <a:srgbClr val="5B6372"/>
                </a:solidFill>
                <a:latin typeface="Arial"/>
              </a:rPr>
              <a:t>Branch on many possible values of one field — cleaner than nested conditions.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Apply to each</a:t>
            </a:r>
          </a:p>
          <a:p>
            <a:pPr algn="l">
              <a:spcAft>
                <a:spcPts val="300"/>
              </a:spcAft>
            </a:pPr>
            <a:r>
              <a:rPr sz="1100" b="0">
                <a:solidFill>
                  <a:srgbClr val="5B6372"/>
                </a:solidFill>
                <a:latin typeface="Arial"/>
              </a:rPr>
              <a:t>Loop over every item in an array, running the same actions.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 until</a:t>
            </a:r>
          </a:p>
          <a:p>
            <a:pPr algn="l">
              <a:spcAft>
                <a:spcPts val="300"/>
              </a:spcAft>
            </a:pPr>
            <a:r>
              <a:rPr sz="1100" b="0">
                <a:solidFill>
                  <a:srgbClr val="5B6372"/>
                </a:solidFill>
                <a:latin typeface="Arial"/>
              </a:rPr>
              <a:t>Repeat until a condition becomes true — always set a safety limit.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Group actions together so they can be handled or retried as one unit.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Expressions</a:t>
            </a:r>
          </a:p>
          <a:p>
            <a:pPr algn="l">
              <a:spcAft>
                <a:spcPts val="300"/>
              </a:spcAft>
            </a:pPr>
            <a:r>
              <a:rPr sz="1100" b="0">
                <a:solidFill>
                  <a:srgbClr val="5B6372"/>
                </a:solidFill>
                <a:latin typeface="Arial"/>
              </a:rPr>
              <a:t>Functions such as formatDateTime(), concat(), int() transform values in transit.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APPROVALS  ·  HUMAN IN THE LOOP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an Approval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Trigger fires</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 request with an Estimated Cost over $500 is created.</a:t>
            </a:r>
          </a:p>
        </p:txBody>
      </p:sp>
      <p:cxnSp>
        <p:nvCxnSpPr>
          <p:cNvPr id="13" name="Connector 12"/>
          <p:cNvCxnSpPr/>
          <p:nvPr/>
        </p:nvCxnSpPr>
        <p:spPr>
          <a:xfrm>
            <a:off x="2651760" y="3483864"/>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Start and wait</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'Start and wait for an approval' sends the request and PAUSES the flow.</a:t>
            </a:r>
          </a:p>
        </p:txBody>
      </p:sp>
      <p:cxnSp>
        <p:nvCxnSpPr>
          <p:cNvPr id="20" name="Connector 19"/>
          <p:cNvCxnSpPr/>
          <p:nvPr/>
        </p:nvCxnSpPr>
        <p:spPr>
          <a:xfrm>
            <a:off x="4855464" y="3483864"/>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Approver responds</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The approver acts in Outlook, Teams or the Approvals portal.</a:t>
            </a:r>
          </a:p>
        </p:txBody>
      </p:sp>
      <p:cxnSp>
        <p:nvCxnSpPr>
          <p:cNvPr id="27" name="Connector 26"/>
          <p:cNvCxnSpPr/>
          <p:nvPr/>
        </p:nvCxnSpPr>
        <p:spPr>
          <a:xfrm>
            <a:off x="7059168" y="3483864"/>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Flow resumes</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The Outcome — Approve or Reject — comes back into the flow.</a:t>
            </a:r>
          </a:p>
        </p:txBody>
      </p:sp>
      <p:cxnSp>
        <p:nvCxnSpPr>
          <p:cNvPr id="34" name="Connector 33"/>
          <p:cNvCxnSpPr/>
          <p:nvPr/>
        </p:nvCxnSpPr>
        <p:spPr>
          <a:xfrm>
            <a:off x="9262872" y="3483864"/>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Act on the outcome</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Update the Dataverse row: In Progress if approved, Cancelled if rejected.</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'Start and wait' genuinely blocks the run until someone responds — a flow that appears stuck at an approval step is usually working exactly as designed.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APPROVALS · TEAMS · OUTLOOK · SHAREPOINT · FORMS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Power Automate Fits in Microsoft 365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Outlook</a:t>
            </a:r>
          </a:p>
          <a:p>
            <a:pPr algn="l">
              <a:spcAft>
                <a:spcPts val="300"/>
              </a:spcAft>
            </a:pPr>
            <a:r>
              <a:rPr sz="1100" b="0">
                <a:solidFill>
                  <a:srgbClr val="5B6372"/>
                </a:solidFill>
                <a:latin typeface="Arial"/>
              </a:rPr>
              <a:t>Trigger on mail; send notifications and actionable approval cards.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Teams</a:t>
            </a:r>
          </a:p>
          <a:p>
            <a:pPr algn="l">
              <a:spcAft>
                <a:spcPts val="300"/>
              </a:spcAft>
            </a:pPr>
            <a:r>
              <a:rPr sz="1100" b="0">
                <a:solidFill>
                  <a:srgbClr val="5B6372"/>
                </a:solidFill>
                <a:latin typeface="Arial"/>
              </a:rPr>
              <a:t>Post adaptive cards, deliver approvals, and run flows from a message.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SharePoint</a:t>
            </a:r>
          </a:p>
          <a:p>
            <a:pPr algn="l">
              <a:spcAft>
                <a:spcPts val="300"/>
              </a:spcAft>
            </a:pPr>
            <a:r>
              <a:rPr sz="1100" b="0">
                <a:solidFill>
                  <a:srgbClr val="5B6372"/>
                </a:solidFill>
                <a:latin typeface="Arial"/>
              </a:rPr>
              <a:t>Trigger on a list item or file; move, copy and set metadata.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Forms</a:t>
            </a:r>
          </a:p>
          <a:p>
            <a:pPr algn="l">
              <a:spcAft>
                <a:spcPts val="300"/>
              </a:spcAft>
            </a:pPr>
            <a:r>
              <a:rPr sz="1100" b="0">
                <a:solidFill>
                  <a:srgbClr val="5B6372"/>
                </a:solidFill>
                <a:latin typeface="Arial"/>
              </a:rPr>
              <a:t>Trigger on a survey response and route the answers onward.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Document automation</a:t>
            </a:r>
          </a:p>
          <a:p>
            <a:pPr algn="l">
              <a:spcAft>
                <a:spcPts val="300"/>
              </a:spcAft>
            </a:pPr>
            <a:r>
              <a:rPr sz="1100" b="0">
                <a:solidFill>
                  <a:srgbClr val="5B6372"/>
                </a:solidFill>
                <a:latin typeface="Arial"/>
              </a:rPr>
              <a:t>Generate, convert and route documents; AI Builder reads invoices and receipts.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Dataverse</a:t>
            </a:r>
          </a:p>
          <a:p>
            <a:pPr algn="l">
              <a:spcAft>
                <a:spcPts val="300"/>
              </a:spcAft>
            </a:pPr>
            <a:r>
              <a:rPr sz="1100" b="0">
                <a:solidFill>
                  <a:srgbClr val="5B6372"/>
                </a:solidFill>
                <a:latin typeface="Arial"/>
              </a:rPr>
              <a:t>Trigger on row added, modified or deleted; create, update and retrieve rows.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 · CHOOSING THE INTEGRATION METHOD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flow or desktop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the target system expose an API or a connector?</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use a CLOUD FLOW</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Call the connector's actions directly. Faster, more reliable, runs unattended in the service.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use a DESKTOP FLOW (RPA)</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Automate the user interface instead: legacy Windows apps, websites with no API, terminal emulators.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RPA is the option of last resort — UI automation breaks whenever the interface changes, so prefer an API whenever one exists.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DESKTOP FLOWS · RPA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Attended vs Unattended Desktop 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Attended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Unattended</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Who is signed in</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person, at their machine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Nobody — the machine runs it alone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When it runs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While the user works, often triggered by them</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 a schedule or from a cloud flow</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Steps that need human judgement or input</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High-volume, repeatable back-office batches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Licence</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Power Automate Premium</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Unattended RPA add-on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AI-ASSISTED AUTOMATION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Copilot in Power Automate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Describe the automation</a:t>
            </a:r>
          </a:p>
          <a:p>
            <a:pPr algn="l">
              <a:spcAft>
                <a:spcPts val="300"/>
              </a:spcAft>
            </a:pPr>
            <a:r>
              <a:rPr sz="1100" b="0">
                <a:solidFill>
                  <a:srgbClr val="5B6372"/>
                </a:solidFill>
                <a:latin typeface="Arial"/>
              </a:rPr>
              <a:t>Write what you want in plain English and Copilot drafts the flow.</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It builds trigger + actions</a:t>
            </a:r>
          </a:p>
          <a:p>
            <a:pPr algn="l">
              <a:spcAft>
                <a:spcPts val="300"/>
              </a:spcAft>
            </a:pPr>
            <a:r>
              <a:rPr sz="1100" b="0">
                <a:solidFill>
                  <a:srgbClr val="5B6372"/>
                </a:solidFill>
                <a:latin typeface="Arial"/>
              </a:rPr>
              <a:t>Copilot picks the connector, the trigger and the action sequence.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Edit by conversation</a:t>
            </a:r>
          </a:p>
          <a:p>
            <a:pPr algn="l">
              <a:spcAft>
                <a:spcPts val="300"/>
              </a:spcAft>
            </a:pPr>
            <a:r>
              <a:rPr sz="1100" b="0">
                <a:solidFill>
                  <a:srgbClr val="5B6372"/>
                </a:solidFill>
                <a:latin typeface="Arial"/>
              </a:rPr>
              <a:t>Ask for a change — add a condition, change the recipient — without the designer.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Desktop flows too</a:t>
            </a:r>
          </a:p>
          <a:p>
            <a:pPr algn="l">
              <a:spcAft>
                <a:spcPts val="300"/>
              </a:spcAft>
            </a:pPr>
            <a:r>
              <a:rPr sz="1100" b="0">
                <a:solidFill>
                  <a:srgbClr val="5B6372"/>
                </a:solidFill>
                <a:latin typeface="Arial"/>
              </a:rPr>
              <a:t>Copilot in Power Automate for desktop drafts and explains RPA steps.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Always verify</a:t>
            </a:r>
          </a:p>
          <a:p>
            <a:pPr algn="l">
              <a:spcAft>
                <a:spcPts val="300"/>
              </a:spcAft>
            </a:pPr>
            <a:r>
              <a:rPr sz="1100" b="0">
                <a:solidFill>
                  <a:srgbClr val="5B6372"/>
                </a:solidFill>
                <a:latin typeface="Arial"/>
              </a:rPr>
              <a:t>Check the trigger, the condition operators and every dynamic value it chose.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Then test it</a:t>
            </a:r>
          </a:p>
          <a:p>
            <a:pPr algn="l">
              <a:spcAft>
                <a:spcPts val="300"/>
              </a:spcAft>
            </a:pPr>
            <a:r>
              <a:rPr sz="1100" b="0">
                <a:solidFill>
                  <a:srgbClr val="5B6372"/>
                </a:solidFill>
                <a:latin typeface="Arial"/>
              </a:rPr>
              <a:t>A flow that saves is not a flow that works — run it and read the history.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 75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an Automated Cloud Flow with a Condition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create an automated cloud flow triggered by a Dataverse event, add a condition and send a notification through a connector.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Contoso wants the facilities team alerted the moment a high-priority request arrives. You build an automated cloud flow that triggers when a row is added to Facility Request, retrieves the full row, tests the Priority value, and sends an Outlook email only when the request is High or Urgent.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saved cloud flow, 'Notify on High Priority Request', with a Dataverse trigger, a Get a row by ID action, an Or condition on Priority and a Send an email action.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Microsoft Dataverse connector, Office 365 Outlook connector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flow saves with no validation errors, the condition uses Or across Priority = 3 and Priority = 4, and the Send an email action sits in the If yes branch only.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Build an Automated Cloud Flow with 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Open the Power Automate maker…</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the Power Automate maker portal and confirm the environment picker shows your course…</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If the trigger reports…</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If the trigger reports Invalid Parameters, select Change connection reference &gt; Add new, name…</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Configure it: Table name =…</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Configure it: Table name = Facility Requests, and set Row ID from Dynamic content to the…</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In the If yes branch select +…</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In the If yes branch select + &gt; Add an action, search 'Send an email' and select Send an email…</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Select Save</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Select Save. Read the trigger, condition and action back as a sentence to confirm the logic…</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saved cloud flow, 'Notify on High Priority Request', with a Dataverse trigger, a Get a row by ID action, an Or condition on Priority and a Send an email action.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an Automated Cloud Flow with a Condition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flow saves with no validation errors, the condition uses Or across Priority = 3 and Priority = 4, and the Send an email action sits in the If yes branch only.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Trigger shows Invalid Parameters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Dataverse connection reference is missing. Select Change connection reference &gt; Add new and sign in again.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Priority compares as text and never matches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Use the numeric Value, not the label. High is 3 and Urgent is 4 — the integers you set in Lab 3.</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Dynamic content list is empty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Get a row by ID action has not been saved. Save the flow, reopen it, and the dynamic tokens will appear.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 60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Test the Flow and Diagnose a Failed Run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test a flow end to end, read the run history, and diagnose and resolve a failing connection between two application programs.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flow that saves is not a flow that works. You trigger the flow with real data, read the run history step by step, then deliberately break the integration and diagnose it from the error — the testing and verification skills the C1358 requires.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successful flow run with an email received, plus a fault log recording one induced failure, the error message and the fix applied.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run history, Microsoft Dataverse, Office 365 Outlook</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run history shows at least one Succeeded run that sent an email, one run where the condition correctly evaluated false, and one Failed run that you diagnosed, fixed and successfully resubmitted.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Test the Flow and Diagnose a Failed Run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Open the Facility Request…</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the Facility Request table (or the model-driven app from Lab 8) and add a new row with…</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Check your inbox and confirm…</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Check your inbox and confirm the notification arrived with the correct request title, category…</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Add another High priority row…</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Add another High priority row and let the flow run. Open the failed run in the history and read…</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Confirm the resubmitted run…</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Confirm the resubmitted run now succeeds and the email arrives.</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Write a two-sentence…</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Write a two-sentence verification statement: what you tested, and what evidence proves the…</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successful flow run with an email received, plus a fault log recording one induced failure, the error message and the fix applied.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Test the Flow and Diagnose a Failed Run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run history shows at least one Succeeded run that sent an email, one run where the condition correctly evaluated false, and one Failed run that you diagnosed, fixed and successfully resubmitted.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run appears at all</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trigger scope is User rather than Organization, or the row was added in a different environment. Check both.</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Run succeeded but no email arrived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junk folder, then confirm the To address in the action's run inputs is the address you actually monitor.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Resubmit is greyed out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Resubmit only applies to a failed or cancelled run. Open the run itself, not the flow, to find the button.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 75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Approvals, Desktop Flows and Copilot-Assisted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describe approvals, Teams/Outlook/SharePoint automation, desktop flows (RPA) and using AI to create and modify flows.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Not every process is a notification. You extend the solution with an approval that pauses the flow until a manager responds, examine where desktop flows fit when a legacy system has no API, and use Copilot to draft a flow from a plain-English description — then review what it produced.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approval flow for high-cost requests, a desktop-flow scenario assessment, and a Copilot-generated flow that you have reviewed and corrected.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Approvals connector, Microsoft Teams, Power Automate for desktop, Copilot in Power Automate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approval flow pauses until you respond and then updates the Dataverse row's Status to match your decision; you can state when a desktop flow is required instead of a cloud flow; and you have reviewed and corrected a Copilot-drafted flow.</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Approvals, Desktop Flows and Copilot…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Create a second automated…</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Create a second automated cloud flow named 'Approve High Cost Request', triggered by a row…</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Set the Title to include the…</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Set the Title to include the Request Title, set Assigned to your own address, and put the cost…</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Test it: add a request with…</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Test it: add a request with an Estimated Cost above 500, respond to the approval in Outlook or…</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Compare attended and…</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Compare attended and unattended desktop flows — who is signed in, when each runs, and what…</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Review the flow Copilot…</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Review the flow Copilot produced. Check the trigger, the condition and the action, correct…</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An approval flow for high-cost requests, a desktop-flow scenario assessment, and a Copilot-generated flow that you have reviewed and corrected.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Approvals, Desktop Flows and Copilot-Assisted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approval flow pauses until you respond and then updates the Dataverse row's Status to match your decision; you can state when a desktop flow is required instead of a cloud flow; and you have reviewed and corrected a Copilot-drafted flow.</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approval never arrives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Assigned to must be a full email address on the same tenant. Check the run history inputs for the approval step.</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flow waits forever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'Start and wait for an approval' blocks by design until someone responds. Respond in Outlook, Teams or the Power Automate Approvals page.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Copilot builds the wrong trigger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Expected. Delete the trigger, add the right one manually, and note the correction — reviewing AI output is an exam objective.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Introduction to Power Automate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Cloud flows connect services, desktop flows drive a UI, business process flows guide a person.</a:t>
            </a:r>
          </a:p>
          <a:p>
            <a:pPr>
              <a:spcAft>
                <a:spcPts val="1000"/>
              </a:spcAft>
            </a:pPr>
            <a:r>
              <a:rPr sz="1600" b="0">
                <a:solidFill>
                  <a:srgbClr val="161B26"/>
                </a:solidFill>
                <a:latin typeface="Arial"/>
              </a:rPr>
              <a:t>•  Every cloud flow has exactly one trigger — automated, instant or scheduled — and many actions.</a:t>
            </a:r>
          </a:p>
          <a:p>
            <a:pPr>
              <a:spcAft>
                <a:spcPts val="1000"/>
              </a:spcAft>
            </a:pPr>
            <a:r>
              <a:rPr sz="1600" b="0">
                <a:solidFill>
                  <a:srgbClr val="161B26"/>
                </a:solidFill>
                <a:latin typeface="Arial"/>
              </a:rPr>
              <a:t>•  Each action is a connector API call: this is API-level integration without writing request code.</a:t>
            </a:r>
          </a:p>
          <a:p>
            <a:pPr>
              <a:spcAft>
                <a:spcPts val="1000"/>
              </a:spcAft>
            </a:pPr>
            <a:r>
              <a:rPr sz="1600" b="0">
                <a:solidFill>
                  <a:srgbClr val="161B26"/>
                </a:solidFill>
                <a:latin typeface="Arial"/>
              </a:rPr>
              <a:t>•  Conditions, Switch, Apply to each and Do Until add branching and iteration.</a:t>
            </a:r>
          </a:p>
          <a:p>
            <a:pPr>
              <a:spcAft>
                <a:spcPts val="1000"/>
              </a:spcAft>
            </a:pPr>
            <a:r>
              <a:rPr sz="1600" b="0">
                <a:solidFill>
                  <a:srgbClr val="161B26"/>
                </a:solidFill>
                <a:latin typeface="Arial"/>
              </a:rPr>
              <a:t>•  'Start and wait for an approval' pauses the run until a human responds.</a:t>
            </a:r>
          </a:p>
          <a:p>
            <a:pPr>
              <a:spcAft>
                <a:spcPts val="1000"/>
              </a:spcAft>
            </a:pPr>
            <a:r>
              <a:rPr sz="1600" b="0">
                <a:solidFill>
                  <a:srgbClr val="161B26"/>
                </a:solidFill>
                <a:latin typeface="Arial"/>
              </a:rPr>
              <a:t>•  Use RPA only where no API exists; verify and test everything Copilot generates.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Power BI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Data modelling · transformation · visualisation · dashboards and sharing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K2 · A5,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Introduction to Power BI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Power BI is</a:t>
            </a:r>
          </a:p>
          <a:p>
            <a:pPr algn="l">
              <a:spcAft>
                <a:spcPts val="300"/>
              </a:spcAft>
            </a:pPr>
            <a:r>
              <a:rPr sz="1100" b="0">
                <a:solidFill>
                  <a:srgbClr val="5B6372"/>
                </a:solidFill>
                <a:latin typeface="Arial"/>
              </a:rPr>
              <a:t>The analytics member of the Power Platform: connect to data, model it, visualise it and share the result as reports and dashboards.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parts of Power BI</a:t>
            </a:r>
          </a:p>
          <a:p>
            <a:pPr algn="l">
              <a:spcAft>
                <a:spcPts val="300"/>
              </a:spcAft>
            </a:pPr>
            <a:r>
              <a:rPr sz="1100" b="0">
                <a:solidFill>
                  <a:srgbClr val="5B6372"/>
                </a:solidFill>
                <a:latin typeface="Arial"/>
              </a:rPr>
              <a:t>Power BI Desktop authors the model and report; the Power BI service publishes, shares and refreshes it; the mobile apps consume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Get and transform</a:t>
            </a:r>
          </a:p>
          <a:p>
            <a:pPr algn="l">
              <a:spcAft>
                <a:spcPts val="300"/>
              </a:spcAft>
            </a:pPr>
            <a:r>
              <a:rPr sz="1100" b="0">
                <a:solidFill>
                  <a:srgbClr val="5B6372"/>
                </a:solidFill>
                <a:latin typeface="Arial"/>
              </a:rPr>
              <a:t>Power Query cleans and reshapes data — remove columns, change types, split, merge and append — before it ever reaches the model.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Model and visualise</a:t>
            </a:r>
          </a:p>
          <a:p>
            <a:pPr algn="l">
              <a:spcAft>
                <a:spcPts val="300"/>
              </a:spcAft>
            </a:pPr>
            <a:r>
              <a:rPr sz="1100" b="0">
                <a:solidFill>
                  <a:srgbClr val="5B6372"/>
                </a:solidFill>
                <a:latin typeface="Arial"/>
              </a:rPr>
              <a:t>Relationships join tables into a model; visuals, slicers and filters turn that model into an answerable question.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Dashboards vs reports</a:t>
            </a:r>
          </a:p>
          <a:p>
            <a:pPr algn="l">
              <a:spcAft>
                <a:spcPts val="300"/>
              </a:spcAft>
            </a:pPr>
            <a:r>
              <a:rPr sz="1100" b="0">
                <a:solidFill>
                  <a:srgbClr val="5B6372"/>
                </a:solidFill>
                <a:latin typeface="Arial"/>
              </a:rPr>
              <a:t>A report is multi-page and tied to one dataset; a dashboard is a single-page canvas of pinned tiles that can span several reports.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Verifying integration (K2, A5, A6)</a:t>
            </a:r>
          </a:p>
          <a:p>
            <a:pPr algn="l">
              <a:spcAft>
                <a:spcPts val="300"/>
              </a:spcAft>
            </a:pPr>
            <a:r>
              <a:rPr sz="1100" b="0">
                <a:solidFill>
                  <a:srgbClr val="5B6372"/>
                </a:solidFill>
                <a:latin typeface="Arial"/>
              </a:rPr>
              <a:t>Refresh history, data lineage and cross-checking totals against the source are how you prove the integration is actually working.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POWER BI IN ONE LINE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Connect. Transform. Model. Visualise.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Power BI is the analytics member of the family — and the place where you prove the integration actually produced correct data.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DESKTOP · SERVICE · MOBILE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Parts of Power BI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BI Desktop</a:t>
            </a:r>
          </a:p>
          <a:p>
            <a:pPr algn="l">
              <a:spcAft>
                <a:spcPts val="300"/>
              </a:spcAft>
            </a:pPr>
            <a:r>
              <a:rPr sz="1100" b="0">
                <a:solidFill>
                  <a:srgbClr val="5B6372"/>
                </a:solidFill>
                <a:latin typeface="Arial"/>
              </a:rPr>
              <a:t>The free Windows authoring tool — get data, transform, model and design reports.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BI service</a:t>
            </a:r>
          </a:p>
          <a:p>
            <a:pPr algn="l">
              <a:spcAft>
                <a:spcPts val="300"/>
              </a:spcAft>
            </a:pPr>
            <a:r>
              <a:rPr sz="1100" b="0">
                <a:solidFill>
                  <a:srgbClr val="5B6372"/>
                </a:solidFill>
                <a:latin typeface="Arial"/>
              </a:rPr>
              <a:t>The cloud home — publish, share, refresh, build dashboards and set alerts.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BI Mobile</a:t>
            </a:r>
          </a:p>
          <a:p>
            <a:pPr algn="l">
              <a:spcAft>
                <a:spcPts val="300"/>
              </a:spcAft>
            </a:pPr>
            <a:r>
              <a:rPr sz="1100" b="0">
                <a:solidFill>
                  <a:srgbClr val="5B6372"/>
                </a:solidFill>
                <a:latin typeface="Arial"/>
              </a:rPr>
              <a:t>Consume reports and dashboards on a phone or tablet, with alerts.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Query</a:t>
            </a:r>
          </a:p>
          <a:p>
            <a:pPr algn="l">
              <a:spcAft>
                <a:spcPts val="300"/>
              </a:spcAft>
            </a:pPr>
            <a:r>
              <a:rPr sz="1100" b="0">
                <a:solidFill>
                  <a:srgbClr val="5B6372"/>
                </a:solidFill>
                <a:latin typeface="Arial"/>
              </a:rPr>
              <a:t>The transformation engine inside Desktop and the service — clean before you load.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Workspaces</a:t>
            </a:r>
          </a:p>
          <a:p>
            <a:pPr algn="l">
              <a:spcAft>
                <a:spcPts val="300"/>
              </a:spcAft>
            </a:pPr>
            <a:r>
              <a:rPr sz="1100" b="0">
                <a:solidFill>
                  <a:srgbClr val="5B6372"/>
                </a:solidFill>
                <a:latin typeface="Arial"/>
              </a:rPr>
              <a:t>Where content lives and is collaborated on before it reaches an audience.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Datasets / semantic models</a:t>
            </a:r>
          </a:p>
          <a:p>
            <a:pPr algn="l">
              <a:spcAft>
                <a:spcPts val="300"/>
              </a:spcAft>
            </a:pPr>
            <a:r>
              <a:rPr sz="1100" b="0">
                <a:solidFill>
                  <a:srgbClr val="5B6372"/>
                </a:solidFill>
                <a:latin typeface="Arial"/>
              </a:rPr>
              <a:t>The reusable model that one or many reports are built 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END TO END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Power BI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Get data</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Connect to a CSV, Excel, SQL, Dataverse or one of hundreds of sources.</a:t>
            </a:r>
          </a:p>
        </p:txBody>
      </p:sp>
      <p:cxnSp>
        <p:nvCxnSpPr>
          <p:cNvPr id="13" name="Connector 12"/>
          <p:cNvCxnSpPr/>
          <p:nvPr/>
        </p:nvCxnSpPr>
        <p:spPr>
          <a:xfrm>
            <a:off x="2651760"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Transform</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Clean it in Power Query — types, blanks, casing, unwanted columns.</a:t>
            </a:r>
          </a:p>
        </p:txBody>
      </p:sp>
      <p:cxnSp>
        <p:nvCxnSpPr>
          <p:cNvPr id="20" name="Connector 19"/>
          <p:cNvCxnSpPr/>
          <p:nvPr/>
        </p:nvCxnSpPr>
        <p:spPr>
          <a:xfrm>
            <a:off x="4855464"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Model</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Relate the tables and add measures so questions can be answered.</a:t>
            </a:r>
          </a:p>
        </p:txBody>
      </p:sp>
      <p:cxnSp>
        <p:nvCxnSpPr>
          <p:cNvPr id="27" name="Connector 26"/>
          <p:cNvCxnSpPr/>
          <p:nvPr/>
        </p:nvCxnSpPr>
        <p:spPr>
          <a:xfrm>
            <a:off x="7059168"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Visualise</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Build the report: charts, cards, slicers and cross-filtering.</a:t>
            </a:r>
          </a:p>
        </p:txBody>
      </p:sp>
      <p:cxnSp>
        <p:nvCxnSpPr>
          <p:cNvPr id="34" name="Connector 33"/>
          <p:cNvCxnSpPr/>
          <p:nvPr/>
        </p:nvCxnSpPr>
        <p:spPr>
          <a:xfrm>
            <a:off x="9262872" y="3483864"/>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Publish and share</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Push to the service, pin a dashboard, share with an audience.</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Transform BEFORE you load. Cleaning data after it reaches the model is slower, harder to maintain, and easy to get wrong.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LAB 12 EXPORT — DELIBERATELY MESSY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Cleaning Data in Power Query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Problem in the export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Power Query fix</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 it matters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'N/A' in a numeric column</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Replace values → null, then Replace null with 0</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column cannot aggregate while it holds text</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Blank rows from the export</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Remove rows → Remove blank rows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Blank rows inflate counts and skew averages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'equipment' vs 'EQUIPMENT'</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Format → Trim, then Capitalize Each Word</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Inconsistent casing splits one category into several</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An internal ImportBatchId column</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Remove columns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Data the report does not need should never reach the model</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Dates stored as text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Change type → Date</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Text dates cannot be sorted or used in time logic</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Every one of these faults is present in facility-requests-export.csv. Real exports are never clean — this is the normal state of integration data.</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REPORT YOU WILL BUILD IN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Contoso Facilities Spend by Category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Maintenance dominates spend despite a modest request count — the kind of finding that only becomes visible once the data is modelled, and exactly what management asked for.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DONUT · PRIORITY BREAKDOWN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Request Volume by Priority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Half of all requests arrive as High or Urgent — a signal that the priority definitions need tightening, which is a governance finding rather than a technical 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 COMMON EXAM DISTINCTION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Report vs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Report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Dashboard</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Pages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Multi-page</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Always a single page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Data sources</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One semantic model</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Tiles pinned from many reports and models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Interactivity</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Full — filters, slicers, drill-through</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Tiles link back to the source report</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Built in</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Desktop or the service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service only</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Used for</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Exploring and analysing</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Monitoring at a glance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You cannot pin a visual from Power BI Desktop — pinning only exists in the service, which is why you publish first and pin second.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PROVING IT ACTUALLY WORKS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Verifying the Integration  (K2 · A5 · A6)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Match the totals</a:t>
            </a:r>
          </a:p>
          <a:p>
            <a:pPr algn="l">
              <a:spcAft>
                <a:spcPts val="300"/>
              </a:spcAft>
            </a:pPr>
            <a:r>
              <a:rPr sz="1100" b="0">
                <a:solidFill>
                  <a:srgbClr val="5B6372"/>
                </a:solidFill>
                <a:latin typeface="Arial"/>
              </a:rPr>
              <a:t>The published card total must equal the figure you recorded in Desktop.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Check the row count</a:t>
            </a:r>
          </a:p>
          <a:p>
            <a:pPr algn="l">
              <a:spcAft>
                <a:spcPts val="300"/>
              </a:spcAft>
            </a:pPr>
            <a:r>
              <a:rPr sz="1100" b="0">
                <a:solidFill>
                  <a:srgbClr val="5B6372"/>
                </a:solidFill>
                <a:latin typeface="Arial"/>
              </a:rPr>
              <a:t>Compare the model's row count against the source system's record count.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Trace the lineage</a:t>
            </a:r>
          </a:p>
          <a:p>
            <a:pPr algn="l">
              <a:spcAft>
                <a:spcPts val="300"/>
              </a:spcAft>
            </a:pPr>
            <a:r>
              <a:rPr sz="1100" b="0">
                <a:solidFill>
                  <a:srgbClr val="5B6372"/>
                </a:solidFill>
                <a:latin typeface="Arial"/>
              </a:rPr>
              <a:t>The service's lineage view shows source → model → report → dashboard.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 the refresh history</a:t>
            </a:r>
          </a:p>
          <a:p>
            <a:pPr algn="l">
              <a:spcAft>
                <a:spcPts val="300"/>
              </a:spcAft>
            </a:pPr>
            <a:r>
              <a:rPr sz="1100" b="0">
                <a:solidFill>
                  <a:srgbClr val="5B6372"/>
                </a:solidFill>
                <a:latin typeface="Arial"/>
              </a:rPr>
              <a:t>A silently failing refresh is the most common cause of stale figures.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Test the relationship</a:t>
            </a:r>
          </a:p>
          <a:p>
            <a:pPr algn="l">
              <a:spcAft>
                <a:spcPts val="300"/>
              </a:spcAft>
            </a:pPr>
            <a:r>
              <a:rPr sz="1100" b="0">
                <a:solidFill>
                  <a:srgbClr val="5B6372"/>
                </a:solidFill>
                <a:latin typeface="Arial"/>
              </a:rPr>
              <a:t>A visual that returns blank for every row means the relationship is wrong.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Document the check</a:t>
            </a:r>
          </a:p>
          <a:p>
            <a:pPr algn="l">
              <a:spcAft>
                <a:spcPts val="300"/>
              </a:spcAft>
            </a:pPr>
            <a:r>
              <a:rPr sz="1100" b="0">
                <a:solidFill>
                  <a:srgbClr val="5B6372"/>
                </a:solidFill>
                <a:latin typeface="Arial"/>
              </a:rPr>
              <a:t>Record what you verified and against what — this is the evidence of A6.</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SECURITY AND ADMINISTRATION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Sharing, Security and Administration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Workspaces</a:t>
            </a:r>
          </a:p>
          <a:p>
            <a:pPr algn="l">
              <a:spcAft>
                <a:spcPts val="300"/>
              </a:spcAft>
            </a:pPr>
            <a:r>
              <a:rPr sz="1100" b="0">
                <a:solidFill>
                  <a:srgbClr val="5B6372"/>
                </a:solidFill>
                <a:latin typeface="Arial"/>
              </a:rPr>
              <a:t>Collaborate on content before an audience ever sees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Apps</a:t>
            </a:r>
          </a:p>
          <a:p>
            <a:pPr algn="l">
              <a:spcAft>
                <a:spcPts val="300"/>
              </a:spcAft>
            </a:pPr>
            <a:r>
              <a:rPr sz="1100" b="0">
                <a:solidFill>
                  <a:srgbClr val="5B6372"/>
                </a:solidFill>
                <a:latin typeface="Arial"/>
              </a:rPr>
              <a:t>Package workspace content and distribute it to a wide audience.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Sharing a dashboard</a:t>
            </a:r>
          </a:p>
          <a:p>
            <a:pPr algn="l">
              <a:spcAft>
                <a:spcPts val="300"/>
              </a:spcAft>
            </a:pPr>
            <a:r>
              <a:rPr sz="1100" b="0">
                <a:solidFill>
                  <a:srgbClr val="5B6372"/>
                </a:solidFill>
                <a:latin typeface="Arial"/>
              </a:rPr>
              <a:t>The recipient needs access AND an appropriate Power BI licence.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Row-level security</a:t>
            </a:r>
          </a:p>
          <a:p>
            <a:pPr algn="l">
              <a:spcAft>
                <a:spcPts val="300"/>
              </a:spcAft>
            </a:pPr>
            <a:r>
              <a:rPr sz="1100" b="0">
                <a:solidFill>
                  <a:srgbClr val="5B6372"/>
                </a:solidFill>
                <a:latin typeface="Arial"/>
              </a:rPr>
              <a:t>Restrict which rows a user sees, defined in the model.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Scheduled refresh</a:t>
            </a:r>
          </a:p>
          <a:p>
            <a:pPr algn="l">
              <a:spcAft>
                <a:spcPts val="300"/>
              </a:spcAft>
            </a:pPr>
            <a:r>
              <a:rPr sz="1100" b="0">
                <a:solidFill>
                  <a:srgbClr val="5B6372"/>
                </a:solidFill>
                <a:latin typeface="Arial"/>
              </a:rPr>
              <a:t>Set the cadence the data must be refreshed to stay accurate.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Sensitivity labels</a:t>
            </a:r>
          </a:p>
          <a:p>
            <a:pPr algn="l">
              <a:spcAft>
                <a:spcPts val="300"/>
              </a:spcAft>
            </a:pPr>
            <a:r>
              <a:rPr sz="1100" b="0">
                <a:solidFill>
                  <a:srgbClr val="5B6372"/>
                </a:solidFill>
                <a:latin typeface="Arial"/>
              </a:rPr>
              <a:t>Apply Microsoft Purview labels to classify and protect content.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 60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Connect, Transform and Model Facilities Data in Power BI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connect Power BI to a data source, clean and transform it with Power Query, and build a model with a relationship.</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Contoso's management wants visibility over facilities spend. You connect Power BI Desktop to the facilities export, use Power Query to clean the deliberately messy data, then relate the requests to the rooms so the model can answer questions neither table could answer alone.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Power BI model with a cleaned Facility Requests table, a Rooms table and a working relationship between them.</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BI Desktop, Power Query Editor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Both tables load with no errors, Estimated Cost is numeric with no nulls, Category values are consistently cased, and a table visual of Building against Sum of Estimated Cost returns non-blank figures.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Connect, Transform and Model Facilities…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Open Power BI Desktop</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Power BI Desktop. If it is not installed, download it from the Microsoft Store or…</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In Power Query, examine the…</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In Power Query, examine the column quality bar. Note the errors and blanks that the export…</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Select the Estimated Cost…</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Select the Estimated Cost column and use Replace values to replace the text 'N/A' with null…</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Rename the query to 'Facility…</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Rename the query to 'Facility Requests'. Select Home &gt; Close &amp; Apply.</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Verify the model: create a…</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Verify the model: create a quick table visual showing Building and Sum of Estimated Cost. If it…</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Power BI model with a cleaned Facility Requests table, a Rooms table and a working relationship between them.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Connect, Transform and Model Facilities Data in Power BI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Both tables load with no errors, Estimated Cost is numeric with no nulls, Category values are consistently cased, and a table visual of Building against Sum of Estimated Cost returns non-blank figures.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Estimated Cost will not convert to a number</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Text such as 'N/A' remains. Replace it with null first, then change the data type.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relationship will not create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key columns have different data types or trailing spaces. Trim both and confirm both are Text.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visual shows blank for every building</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relationship direction is wrong or the key values do not match. Check the room identifiers in both tables are written identically.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 60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Visualise, Publish and Share a Facilities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build report visuals, publish to the Power BI service, pin a dashboard and share it, then verify the published output against the source.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model is only useful once people can see it. You build the report visuals management asked for, publish to the Power BI service, pin the key visuals to a dashboard, share it, and then verify the published figures match the source data — the final check that the integration works end to end.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published Power BI report and a shared dashboard showing request volume by category, cost by building and a priority breakdown, with verified totals.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BI Desktop, Power BI service, workspaces, dashboards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report shows five working, cross-filtering visuals; the published report's total Estimated Cost matches the figure recorded in Desktop; and the dashboard holds three pinned tiles that open the report when selected.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Visualise, Publish and Share a Facilities…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In Power BI Desktop, on…</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In Power BI Desktop, on Report view, add a Clustered column chart. Put Category on the X axis…</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Add a Donut chart showing the…</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Add a Donut chart showing the count of requests broken down by Priority.</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Save the file as 'Contoso…</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Save the file as 'Contoso Facilities.pbix', then select Publish and choose My workspace.</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Hover each visual and use the…</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Hover each visual and use the pin icon to pin the card, the column chart and the bar chart to a…</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Explain in one sentence the…</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Explain in one sentence the difference between the report and the dashboard you just created.</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published Power BI report and a shared dashboard showing request volume by category, cost by building and a priority breakdown, with verified totals.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Visualise, Publish and Share a Facilities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report shows five working, cross-filtering visuals; the published report's total Estimated Cost matches the figure recorded in Desktop; and the dashboard holds three pinned tiles that open the report when selected.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Publish is greyed out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are not signed in to Power BI Desktop, or the account has no Power BI licence. Sign in at the top right and retry.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Published totals differ from Desktop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filter is applied on the published page, or the file was changed after publishing. Clear filters and re-publish.</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Cannot pin a visual</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Pinning is only available in the service, not Desktop. Open the report in app.powerbi.com first.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Introduction to Power BI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Power BI Desktop authors, the service publishes and shares, and mobile consumes.</a:t>
            </a:r>
          </a:p>
          <a:p>
            <a:pPr>
              <a:spcAft>
                <a:spcPts val="1000"/>
              </a:spcAft>
            </a:pPr>
            <a:r>
              <a:rPr sz="1600" b="0">
                <a:solidFill>
                  <a:srgbClr val="161B26"/>
                </a:solidFill>
                <a:latin typeface="Arial"/>
              </a:rPr>
              <a:t>•  Power Query cleans and reshapes the data BEFORE it reaches the model.</a:t>
            </a:r>
          </a:p>
          <a:p>
            <a:pPr>
              <a:spcAft>
                <a:spcPts val="1000"/>
              </a:spcAft>
            </a:pPr>
            <a:r>
              <a:rPr sz="1600" b="0">
                <a:solidFill>
                  <a:srgbClr val="161B26"/>
                </a:solidFill>
                <a:latin typeface="Arial"/>
              </a:rPr>
              <a:t>•  Relationships turn separate tables into a model that answers cross-table questions.</a:t>
            </a:r>
          </a:p>
          <a:p>
            <a:pPr>
              <a:spcAft>
                <a:spcPts val="1000"/>
              </a:spcAft>
            </a:pPr>
            <a:r>
              <a:rPr sz="1600" b="0">
                <a:solidFill>
                  <a:srgbClr val="161B26"/>
                </a:solidFill>
                <a:latin typeface="Arial"/>
              </a:rPr>
              <a:t>•  A report is multi-page on one model; a dashboard is one page of tiles pinned in the service.</a:t>
            </a:r>
          </a:p>
          <a:p>
            <a:pPr>
              <a:spcAft>
                <a:spcPts val="1000"/>
              </a:spcAft>
            </a:pPr>
            <a:r>
              <a:rPr sz="1600" b="0">
                <a:solidFill>
                  <a:srgbClr val="161B26"/>
                </a:solidFill>
                <a:latin typeface="Arial"/>
              </a:rPr>
              <a:t>•  Verify published totals against the source — that check is the evidence the integration works.</a:t>
            </a:r>
          </a:p>
          <a:p>
            <a:pPr>
              <a:spcAft>
                <a:spcPts val="1000"/>
              </a:spcAft>
            </a:pPr>
            <a:r>
              <a:rPr sz="1600" b="0">
                <a:solidFill>
                  <a:srgbClr val="161B26"/>
                </a:solidFill>
                <a:latin typeface="Arial"/>
              </a:rPr>
              <a:t>•  Sharing requires both access and a licence; refresh keeps the figures true.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Power Virtual Agents (Microsoft Copilot Studio)</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Agents and topics · knowledge · tools · publishing · troubleshooting integration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K4 · A7, A8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Introduction to Power Virtual Agents (Microsoft Copilot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From Power Virtual Agents to Copilot Studio</a:t>
            </a:r>
          </a:p>
          <a:p>
            <a:pPr algn="l">
              <a:spcAft>
                <a:spcPts val="300"/>
              </a:spcAft>
            </a:pPr>
            <a:r>
              <a:rPr sz="1100" b="0">
                <a:solidFill>
                  <a:srgbClr val="5B6372"/>
                </a:solidFill>
                <a:latin typeface="Arial"/>
              </a:rPr>
              <a:t>Power Virtual Agents is now Microsoft Copilot Studio. The concepts are unchanged — the product builds conversational agents with no code.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Agents and topics</a:t>
            </a:r>
          </a:p>
          <a:p>
            <a:pPr algn="l">
              <a:spcAft>
                <a:spcPts val="300"/>
              </a:spcAft>
            </a:pPr>
            <a:r>
              <a:rPr sz="1100" b="0">
                <a:solidFill>
                  <a:srgbClr val="5B6372"/>
                </a:solidFill>
                <a:latin typeface="Arial"/>
              </a:rPr>
              <a:t>A topic is one conversation path: trigger phrases start it and a node tree drives the questions, conditions and messages that follow.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Entities and variables</a:t>
            </a:r>
          </a:p>
          <a:p>
            <a:pPr algn="l">
              <a:spcAft>
                <a:spcPts val="300"/>
              </a:spcAft>
            </a:pPr>
            <a:r>
              <a:rPr sz="1100" b="0">
                <a:solidFill>
                  <a:srgbClr val="5B6372"/>
                </a:solidFill>
                <a:latin typeface="Arial"/>
              </a:rPr>
              <a:t>Entities extract meaning from what the user typed; variables carry those values between nodes and into actions.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sources</a:t>
            </a:r>
          </a:p>
          <a:p>
            <a:pPr algn="l">
              <a:spcAft>
                <a:spcPts val="300"/>
              </a:spcAft>
            </a:pPr>
            <a:r>
              <a:rPr sz="1100" b="0">
                <a:solidFill>
                  <a:srgbClr val="5B6372"/>
                </a:solidFill>
                <a:latin typeface="Arial"/>
              </a:rPr>
              <a:t>Point the agent at SharePoint, a public website or uploaded documents and it answers generatively from that grounded content.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Tools and actions</a:t>
            </a:r>
          </a:p>
          <a:p>
            <a:pPr algn="l">
              <a:spcAft>
                <a:spcPts val="300"/>
              </a:spcAft>
            </a:pPr>
            <a:r>
              <a:rPr sz="1100" b="0">
                <a:solidFill>
                  <a:srgbClr val="5B6372"/>
                </a:solidFill>
                <a:latin typeface="Arial"/>
              </a:rPr>
              <a:t>An agent calls a Power Automate flow, a connector or an MCP server to do real work — this is where the agent becomes an integration client (K4).</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Publishing and troubleshooting</a:t>
            </a:r>
          </a:p>
          <a:p>
            <a:pPr algn="l">
              <a:spcAft>
                <a:spcPts val="300"/>
              </a:spcAft>
            </a:pPr>
            <a:r>
              <a:rPr sz="1100" b="0">
                <a:solidFill>
                  <a:srgbClr val="5B6372"/>
                </a:solidFill>
                <a:latin typeface="Arial"/>
              </a:rPr>
              <a:t>Publish to Teams, a website or a custom channel; then use test chat, the Topic Checker and analytics to find and fix integration failures (A7, A8).</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THE NAME CHANGED, THE CONCEPTS DID NOT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Power Virtual Agents is now Copilot Studio.</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Same idea, bigger scope: build a conversational agent with no code, ground it in your content, and let it take real action through tools.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USE CASES FOR AGENTS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Organisations Build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Deflect repetitive questions</a:t>
            </a:r>
          </a:p>
          <a:p>
            <a:pPr algn="l">
              <a:spcAft>
                <a:spcPts val="300"/>
              </a:spcAft>
            </a:pPr>
            <a:r>
              <a:rPr sz="1100" b="0">
                <a:solidFill>
                  <a:srgbClr val="5B6372"/>
                </a:solidFill>
                <a:latin typeface="Arial"/>
              </a:rPr>
              <a:t>The same facilities questions asked fifty times a week, answered instantly.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Available outside office hours</a:t>
            </a:r>
          </a:p>
          <a:p>
            <a:pPr algn="l">
              <a:spcAft>
                <a:spcPts val="300"/>
              </a:spcAft>
            </a:pPr>
            <a:r>
              <a:rPr sz="1100" b="0">
                <a:solidFill>
                  <a:srgbClr val="5B6372"/>
                </a:solidFill>
                <a:latin typeface="Arial"/>
              </a:rPr>
              <a:t>An agent answers at 11pm; the helpdesk does not.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Consistent answers</a:t>
            </a:r>
          </a:p>
          <a:p>
            <a:pPr algn="l">
              <a:spcAft>
                <a:spcPts val="300"/>
              </a:spcAft>
            </a:pPr>
            <a:r>
              <a:rPr sz="1100" b="0">
                <a:solidFill>
                  <a:srgbClr val="5B6372"/>
                </a:solidFill>
                <a:latin typeface="Arial"/>
              </a:rPr>
              <a:t>Everyone gets the same policy answer, grounded in the same document.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Take action, not just talk</a:t>
            </a:r>
          </a:p>
          <a:p>
            <a:pPr algn="l">
              <a:spcAft>
                <a:spcPts val="300"/>
              </a:spcAft>
            </a:pPr>
            <a:r>
              <a:rPr sz="1100" b="0">
                <a:solidFill>
                  <a:srgbClr val="5B6372"/>
                </a:solidFill>
                <a:latin typeface="Arial"/>
              </a:rPr>
              <a:t>Through tools, the agent creates the request rather than describing how.</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Escalate cleanly</a:t>
            </a:r>
          </a:p>
          <a:p>
            <a:pPr algn="l">
              <a:spcAft>
                <a:spcPts val="300"/>
              </a:spcAft>
            </a:pPr>
            <a:r>
              <a:rPr sz="1100" b="0">
                <a:solidFill>
                  <a:srgbClr val="5B6372"/>
                </a:solidFill>
                <a:latin typeface="Arial"/>
              </a:rPr>
              <a:t>Hand off to a human with the conversation context attached.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Measure and improve</a:t>
            </a:r>
          </a:p>
          <a:p>
            <a:pPr algn="l">
              <a:spcAft>
                <a:spcPts val="300"/>
              </a:spcAft>
            </a:pPr>
            <a:r>
              <a:rPr sz="1100" b="0">
                <a:solidFill>
                  <a:srgbClr val="5B6372"/>
                </a:solidFill>
                <a:latin typeface="Arial"/>
              </a:rPr>
              <a:t>Analytics show which topics work and which need rewriting.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TOPICS · ENTITIES · KNOWLEDGE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Components of an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Topics</a:t>
            </a:r>
          </a:p>
          <a:p>
            <a:pPr algn="l">
              <a:spcAft>
                <a:spcPts val="300"/>
              </a:spcAft>
            </a:pPr>
            <a:r>
              <a:rPr sz="1100" b="0">
                <a:solidFill>
                  <a:srgbClr val="5B6372"/>
                </a:solidFill>
                <a:latin typeface="Arial"/>
              </a:rPr>
              <a:t>One authored conversation path, started by trigger phrases.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Trigger phrases</a:t>
            </a:r>
          </a:p>
          <a:p>
            <a:pPr algn="l">
              <a:spcAft>
                <a:spcPts val="300"/>
              </a:spcAft>
            </a:pPr>
            <a:r>
              <a:rPr sz="1100" b="0">
                <a:solidFill>
                  <a:srgbClr val="5B6372"/>
                </a:solidFill>
                <a:latin typeface="Arial"/>
              </a:rPr>
              <a:t>The example utterances that tell the AI when this topic applies.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Entities</a:t>
            </a:r>
          </a:p>
          <a:p>
            <a:pPr algn="l">
              <a:spcAft>
                <a:spcPts val="300"/>
              </a:spcAft>
            </a:pPr>
            <a:r>
              <a:rPr sz="1100" b="0">
                <a:solidFill>
                  <a:srgbClr val="5B6372"/>
                </a:solidFill>
                <a:latin typeface="Arial"/>
              </a:rPr>
              <a:t>Extract meaning from what the user typed — a date, a number, a choice.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Variables</a:t>
            </a:r>
          </a:p>
          <a:p>
            <a:pPr algn="l">
              <a:spcAft>
                <a:spcPts val="300"/>
              </a:spcAft>
            </a:pPr>
            <a:r>
              <a:rPr sz="1100" b="0">
                <a:solidFill>
                  <a:srgbClr val="5B6372"/>
                </a:solidFill>
                <a:latin typeface="Arial"/>
              </a:rPr>
              <a:t>Carry values between nodes and into tools and conditions.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sources</a:t>
            </a:r>
          </a:p>
          <a:p>
            <a:pPr algn="l">
              <a:spcAft>
                <a:spcPts val="300"/>
              </a:spcAft>
            </a:pPr>
            <a:r>
              <a:rPr sz="1100" b="0">
                <a:solidFill>
                  <a:srgbClr val="5B6372"/>
                </a:solidFill>
                <a:latin typeface="Arial"/>
              </a:rPr>
              <a:t>SharePoint, a website or uploaded files the agent answers from generatively.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Tools</a:t>
            </a:r>
          </a:p>
          <a:p>
            <a:pPr algn="l">
              <a:spcAft>
                <a:spcPts val="300"/>
              </a:spcAft>
            </a:pPr>
            <a:r>
              <a:rPr sz="1100" b="0">
                <a:solidFill>
                  <a:srgbClr val="5B6372"/>
                </a:solidFill>
                <a:latin typeface="Arial"/>
              </a:rPr>
              <a:t>Flows, connectors and MCP servers that let the agent do real work.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TWO WAYS AN AGENT ANSWERS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Topics vs Knowledge Sources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Topic</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Knowledge source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How it answers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path you authored, node by node</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Generated from grounded content</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Predictability</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Deterministic — the same path every time</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Varies with the question asked</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Structured tasks: collect details, take an action</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Open questions: policy, hours, FAQs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Effort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You design every node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Point at content and let it index</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Contoso example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'Report a facility issue' — asks category and priority</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'What are the office opening hours?'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good agent uses both: authored topics for anything that must happen the same way every time, and knowledge for the long tail of questions you cannot script.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&amp; 15 · THE AGENT YOU WILL BUILD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 Topic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Trigger phrase matched</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The user types 'the printer is broken' and the topic fires.</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Message node</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The agent acknowledges and explains what happens next.</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Question node</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Asks the category, saving the answer to a variable.</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Condition node</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Branches on the value — Urgent takes a different path.</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Tool / action</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Calls a Power Automate flow that writes the row to Dataverse.</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tool call is the moment the agent stops being a chatbot and becomes an integration client (K4).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K4 · THE AGENT AS AN INTEGRATION CLIENT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Tools — How an Agent Takes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Automate flow</a:t>
            </a:r>
          </a:p>
          <a:p>
            <a:pPr algn="l">
              <a:spcAft>
                <a:spcPts val="300"/>
              </a:spcAft>
            </a:pPr>
            <a:r>
              <a:rPr sz="1100" b="0">
                <a:solidFill>
                  <a:srgbClr val="5B6372"/>
                </a:solidFill>
                <a:latin typeface="Arial"/>
              </a:rPr>
              <a:t>The agent passes variables in and gets results back — as in Lab 15.</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Connectors</a:t>
            </a:r>
          </a:p>
          <a:p>
            <a:pPr algn="l">
              <a:spcAft>
                <a:spcPts val="300"/>
              </a:spcAft>
            </a:pPr>
            <a:r>
              <a:rPr sz="1100" b="0">
                <a:solidFill>
                  <a:srgbClr val="5B6372"/>
                </a:solidFill>
                <a:latin typeface="Arial"/>
              </a:rPr>
              <a:t>Call any of the 1,400+ connectors directly from a topic.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MCP servers</a:t>
            </a:r>
          </a:p>
          <a:p>
            <a:pPr algn="l">
              <a:spcAft>
                <a:spcPts val="300"/>
              </a:spcAft>
            </a:pPr>
            <a:r>
              <a:rPr sz="1100" b="0">
                <a:solidFill>
                  <a:srgbClr val="5B6372"/>
                </a:solidFill>
                <a:latin typeface="Arial"/>
              </a:rPr>
              <a:t>Model Context Protocol servers expose external tools to the agent.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Agent flows</a:t>
            </a:r>
          </a:p>
          <a:p>
            <a:pPr algn="l">
              <a:spcAft>
                <a:spcPts val="300"/>
              </a:spcAft>
            </a:pPr>
            <a:r>
              <a:rPr sz="1100" b="0">
                <a:solidFill>
                  <a:srgbClr val="5B6372"/>
                </a:solidFill>
                <a:latin typeface="Arial"/>
              </a:rPr>
              <a:t>Automation authored for and owned by the agent itself.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Inputs and outputs</a:t>
            </a:r>
          </a:p>
          <a:p>
            <a:pPr algn="l">
              <a:spcAft>
                <a:spcPts val="300"/>
              </a:spcAft>
            </a:pPr>
            <a:r>
              <a:rPr sz="1100" b="0">
                <a:solidFill>
                  <a:srgbClr val="5B6372"/>
                </a:solidFill>
                <a:latin typeface="Arial"/>
              </a:rPr>
              <a:t>Map topic variables to the tool's inputs; return its outputs to the user.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Runs under a connection</a:t>
            </a:r>
          </a:p>
          <a:p>
            <a:pPr algn="l">
              <a:spcAft>
                <a:spcPts val="300"/>
              </a:spcAft>
            </a:pPr>
            <a:r>
              <a:rPr sz="1100" b="0">
                <a:solidFill>
                  <a:srgbClr val="5B6372"/>
                </a:solidFill>
                <a:latin typeface="Arial"/>
              </a:rPr>
              <a:t>The connection's identity needs rights to the target — a common failure.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 THE AGENT IN FRONT OF PEOPLE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Publishing to Channels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Demo website</a:t>
            </a:r>
          </a:p>
          <a:p>
            <a:pPr algn="l">
              <a:spcAft>
                <a:spcPts val="300"/>
              </a:spcAft>
            </a:pPr>
            <a:r>
              <a:rPr sz="1100" b="0">
                <a:solidFill>
                  <a:srgbClr val="5B6372"/>
                </a:solidFill>
                <a:latin typeface="Arial"/>
              </a:rPr>
              <a:t>A shareable test link — the quickest way to validate with real users.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Custom website</a:t>
            </a:r>
          </a:p>
          <a:p>
            <a:pPr algn="l">
              <a:spcAft>
                <a:spcPts val="300"/>
              </a:spcAft>
            </a:pPr>
            <a:r>
              <a:rPr sz="1100" b="0">
                <a:solidFill>
                  <a:srgbClr val="5B6372"/>
                </a:solidFill>
                <a:latin typeface="Arial"/>
              </a:rPr>
              <a:t>Embed the agent in your own site with a code snippet.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Microsoft Teams</a:t>
            </a:r>
          </a:p>
          <a:p>
            <a:pPr algn="l">
              <a:spcAft>
                <a:spcPts val="300"/>
              </a:spcAft>
            </a:pPr>
            <a:r>
              <a:rPr sz="1100" b="0">
                <a:solidFill>
                  <a:srgbClr val="5B6372"/>
                </a:solidFill>
                <a:latin typeface="Arial"/>
              </a:rPr>
              <a:t>Where internal employee agents usually belong.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Microsoft 365 Copilot</a:t>
            </a:r>
          </a:p>
          <a:p>
            <a:pPr algn="l">
              <a:spcAft>
                <a:spcPts val="300"/>
              </a:spcAft>
            </a:pPr>
            <a:r>
              <a:rPr sz="1100" b="0">
                <a:solidFill>
                  <a:srgbClr val="5B6372"/>
                </a:solidFill>
                <a:latin typeface="Arial"/>
              </a:rPr>
              <a:t>Surface the agent inside the Copilot experience.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Other channels</a:t>
            </a:r>
          </a:p>
          <a:p>
            <a:pPr algn="l">
              <a:spcAft>
                <a:spcPts val="300"/>
              </a:spcAft>
            </a:pPr>
            <a:r>
              <a:rPr sz="1100" b="0">
                <a:solidFill>
                  <a:srgbClr val="5B6372"/>
                </a:solidFill>
                <a:latin typeface="Arial"/>
              </a:rPr>
              <a:t>Facebook, Slack and custom channels via Azure Bot Service.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Publish every time</a:t>
            </a:r>
          </a:p>
          <a:p>
            <a:pPr algn="l">
              <a:spcAft>
                <a:spcPts val="300"/>
              </a:spcAft>
            </a:pPr>
            <a:r>
              <a:rPr sz="1100" b="0">
                <a:solidFill>
                  <a:srgbClr val="5B6372"/>
                </a:solidFill>
                <a:latin typeface="Arial"/>
              </a:rPr>
              <a:t>Changes are not live until you Publish again — a frequent support call.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A7 · HIGHLIGHT THE ISSUE   A8 · IMPLEMENT THE FIX</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Diagnosing Agent Integration Failures  (K4 · A7 · A8)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Symptom</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Likely root cause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Fix (A8)</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The topic never triggers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Trigger phrases overlap another topic</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Add distinct phrases; check which topic fired in the test pane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Tool returns an error</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required input is unmapped</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Map every input; read the flow run history</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Permission denied on the tool</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connection identity lacks table rights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Grant the security role, or use a different connection</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Knowledge answers nothing</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source is still processing or generative AI is off</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Wait for indexing; enable it in Settings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Users see an old version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agent was changed but not published</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Publish again and hard-refresh the channel</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This table is the method for Lab 15 and for PP Tasks 4 and 5: observe the symptom, name the root cause, apply the fix, and verify it.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MANAGE AGENTS IN COPILOT STUDIO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Monitoring and Managing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Analytics</a:t>
            </a:r>
          </a:p>
          <a:p>
            <a:pPr algn="l">
              <a:spcAft>
                <a:spcPts val="300"/>
              </a:spcAft>
            </a:pPr>
            <a:r>
              <a:rPr sz="1100" b="0">
                <a:solidFill>
                  <a:srgbClr val="5B6372"/>
                </a:solidFill>
                <a:latin typeface="Arial"/>
              </a:rPr>
              <a:t>Session count, engagement rate, resolution rate and escalation rate.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performance</a:t>
            </a:r>
          </a:p>
          <a:p>
            <a:pPr algn="l">
              <a:spcAft>
                <a:spcPts val="300"/>
              </a:spcAft>
            </a:pPr>
            <a:r>
              <a:rPr sz="1100" b="0">
                <a:solidFill>
                  <a:srgbClr val="5B6372"/>
                </a:solidFill>
                <a:latin typeface="Arial"/>
              </a:rPr>
              <a:t>Which topics trigger, which are abandoned, which escalate.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Agent evaluations</a:t>
            </a:r>
          </a:p>
          <a:p>
            <a:pPr algn="l">
              <a:spcAft>
                <a:spcPts val="300"/>
              </a:spcAft>
            </a:pPr>
            <a:r>
              <a:rPr sz="1100" b="0">
                <a:solidFill>
                  <a:srgbClr val="5B6372"/>
                </a:solidFill>
                <a:latin typeface="Arial"/>
              </a:rPr>
              <a:t>Test the agent against expected answers to measure quality before release.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Microsoft Agent 365</a:t>
            </a:r>
          </a:p>
          <a:p>
            <a:pPr algn="l">
              <a:spcAft>
                <a:spcPts val="300"/>
              </a:spcAft>
            </a:pPr>
            <a:r>
              <a:rPr sz="1100" b="0">
                <a:solidFill>
                  <a:srgbClr val="5B6372"/>
                </a:solidFill>
                <a:latin typeface="Arial"/>
              </a:rPr>
              <a:t>Manage agents as digital workers — identity, access and lifecycle at scale.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Test pane and Topic Checker</a:t>
            </a:r>
          </a:p>
          <a:p>
            <a:pPr algn="l">
              <a:spcAft>
                <a:spcPts val="300"/>
              </a:spcAft>
            </a:pPr>
            <a:r>
              <a:rPr sz="1100" b="0">
                <a:solidFill>
                  <a:srgbClr val="5B6372"/>
                </a:solidFill>
                <a:latin typeface="Arial"/>
              </a:rPr>
              <a:t>Catch errors while authoring, before anyone else sees them.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Improve the weak topics</a:t>
            </a:r>
          </a:p>
          <a:p>
            <a:pPr algn="l">
              <a:spcAft>
                <a:spcPts val="300"/>
              </a:spcAft>
            </a:pPr>
            <a:r>
              <a:rPr sz="1100" b="0">
                <a:solidFill>
                  <a:srgbClr val="5B6372"/>
                </a:solidFill>
                <a:latin typeface="Arial"/>
              </a:rPr>
              <a:t>Low resolution on a topic is your backlog — rewrite and re-measure.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 75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 Copilot Studio Agent with Topics and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build a conversational agent, author topics with trigger phrases and conditions, and ground it with a knowledge source.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Contoso's facilities inbox is full of the same questions. You build an agent in Copilot Studio, author a topic that collects the request category and priority through a branching conversation, add a knowledge source so the agent answers general questions generatively, and test both in the test chat.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Copilot Studio agent, 'Contoso Facilities Assistant', with a custom topic using a question node and a condition, plus a configured knowledge source.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Microsoft Copilot Studio, topics, entities, variables, knowledge sources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Typing a trigger phrase starts your topic, the two questions branch correctly on Urgent versus Low, and a question outside every topic is answered from the knowledge source rather than falling back.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Build a Copilot Studio Agent with Topics…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Open Copilot Studio, confirm…</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Copilot Studio, confirm the correct environment, and select Create &gt; New agent.</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Select + Add a topic &gt; From…</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Select + Add a topic &gt; From blank. Name it 'Report a Facility Issue'.</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Add a second Question node…</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Add a second Question node asking 'How urgent is this?' with the options Low, Medium, High and…</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Save the topic, then open the…</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Save the topic, then open the Test your agent pane and type 'the printer is broken'. Walk the…</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Note the difference: a topic…</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Note the difference: a topic is an authored, deterministic path; a knowledge source produces a…</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 Copilot Studio agent, 'Contoso Facilities Assistant', with a custom topic using a question node and a condition, plus a configured knowledge source.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 Copilot Studio Agent with Topics and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Typing a trigger phrase starts your topic, the two questions branch correctly on Urgent versus Low, and a question outside every topic is answered from the knowledge source rather than falling back.</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topic never triggers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trigger phrases are too close to another topic's. Add more distinct phrases and re-test; check which topic actually fired in the test pane.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Knowledge answers are not generated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Generative answers may be disabled. Open Settings &gt; Generative AI and confirm the knowledge source is enabled and finished processing.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condition always takes the false branch</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variable is comparing against the wrong value. Confirm the Question node saves to the variable and that the condition compares the same option.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 75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Add a Tool, Publish the Agent and Resolve Integration Issues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You will be able to call a Power Automate flow from an agent, publish to a channel, then diagnose and resolve integration failures and implement improvements.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An agent that only talks is not integrated. You give the agent a tool — a Power Automate flow that writes the request into Dataverse — publish it to a channel, then work through the integration failures that appear when an agent calls a backend system, log each one and implement the fix.</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agent that writes a real Facility Request row to Dataverse through a flow, published to a channel, plus a completed integration fault log.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Microsoft Copilot Studio, Power Automate, Microsoft Dataverse, publishing channels, analytics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conversation in the published channel creates a real row in the Facility Request table, and your fault log records at least two induced failures with the error text, root cause and the verified fix for each.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PROCESS · Add a Tool, Publish the Agent and Resolve…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In your topic, after the…</a:t>
            </a:r>
          </a:p>
        </p:txBody>
      </p:sp>
      <p:sp>
        <p:nvSpPr>
          <p:cNvPr id="12" name="TextBox 11"/>
          <p:cNvSpPr txBox="1"/>
          <p:nvPr/>
        </p:nvSpPr>
        <p:spPr>
          <a:xfrm>
            <a:off x="868680"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In your topic, after the Priority question, select + and choose Add a tool &gt; New Power Automate…</a:t>
            </a:r>
          </a:p>
        </p:txBody>
      </p:sp>
      <p:cxnSp>
        <p:nvCxnSpPr>
          <p:cNvPr id="13" name="Connector 12"/>
          <p:cNvCxnSpPr/>
          <p:nvPr/>
        </p:nvCxnSpPr>
        <p:spPr>
          <a:xfrm>
            <a:off x="2651760"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99816"/>
            <a:ext cx="1563624" cy="530352"/>
          </a:xfrm>
          <a:prstGeom prst="rect">
            <a:avLst/>
          </a:prstGeom>
          <a:noFill/>
        </p:spPr>
        <p:txBody>
          <a:bodyPr wrap="square" anchor="ctr">
            <a:spAutoFit/>
          </a:bodyPr>
          <a:lstStyle/>
          <a:p>
            <a:pPr algn="ctr">
              <a:spcAft>
                <a:spcPts val="0"/>
              </a:spcAft>
            </a:pPr>
            <a:r>
              <a:rPr sz="1200" b="1">
                <a:solidFill>
                  <a:srgbClr val="161B26"/>
                </a:solidFill>
                <a:latin typeface="Arial"/>
              </a:rPr>
              <a:t>In the 'Respond to the agent'…</a:t>
            </a:r>
          </a:p>
        </p:txBody>
      </p:sp>
      <p:sp>
        <p:nvSpPr>
          <p:cNvPr id="19" name="TextBox 18"/>
          <p:cNvSpPr txBox="1"/>
          <p:nvPr/>
        </p:nvSpPr>
        <p:spPr>
          <a:xfrm>
            <a:off x="3072384"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In the 'Respond to the agent' action add an output named Result and set it to a confirmation…</a:t>
            </a:r>
          </a:p>
        </p:txBody>
      </p:sp>
      <p:cxnSp>
        <p:nvCxnSpPr>
          <p:cNvPr id="20" name="Connector 19"/>
          <p:cNvCxnSpPr/>
          <p:nvPr/>
        </p:nvCxnSpPr>
        <p:spPr>
          <a:xfrm>
            <a:off x="4855464"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Now diagnose the common…</a:t>
            </a:r>
          </a:p>
        </p:txBody>
      </p:sp>
      <p:sp>
        <p:nvSpPr>
          <p:cNvPr id="26" name="TextBox 25"/>
          <p:cNvSpPr txBox="1"/>
          <p:nvPr/>
        </p:nvSpPr>
        <p:spPr>
          <a:xfrm>
            <a:off x="5276088"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Now diagnose the common integration failures. Induce the first: remove the mapping for the…</a:t>
            </a:r>
          </a:p>
        </p:txBody>
      </p:sp>
      <p:cxnSp>
        <p:nvCxnSpPr>
          <p:cNvPr id="27" name="Connector 26"/>
          <p:cNvCxnSpPr/>
          <p:nvPr/>
        </p:nvCxnSpPr>
        <p:spPr>
          <a:xfrm>
            <a:off x="7059168"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Open the Publish tab and…</a:t>
            </a:r>
          </a:p>
        </p:txBody>
      </p:sp>
      <p:sp>
        <p:nvSpPr>
          <p:cNvPr id="33" name="TextBox 32"/>
          <p:cNvSpPr txBox="1"/>
          <p:nvPr/>
        </p:nvSpPr>
        <p:spPr>
          <a:xfrm>
            <a:off x="7479792"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Open the Publish tab and select Publish. Then open Channels and review the available options…</a:t>
            </a:r>
          </a:p>
        </p:txBody>
      </p:sp>
      <p:cxnSp>
        <p:nvCxnSpPr>
          <p:cNvPr id="34" name="Connector 33"/>
          <p:cNvCxnSpPr/>
          <p:nvPr/>
        </p:nvCxnSpPr>
        <p:spPr>
          <a:xfrm>
            <a:off x="9262872" y="3483864"/>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67004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99816"/>
            <a:ext cx="1563624" cy="530352"/>
          </a:xfrm>
          <a:prstGeom prst="rect">
            <a:avLst/>
          </a:prstGeom>
          <a:noFill/>
        </p:spPr>
        <p:txBody>
          <a:bodyPr wrap="square" anchor="ctr">
            <a:spAutoFit/>
          </a:bodyPr>
          <a:lstStyle/>
          <a:p>
            <a:pPr algn="ctr">
              <a:spcAft>
                <a:spcPts val="0"/>
              </a:spcAft>
            </a:pPr>
            <a:r>
              <a:rPr sz="1300" b="1">
                <a:solidFill>
                  <a:srgbClr val="161B26"/>
                </a:solidFill>
                <a:latin typeface="Arial"/>
              </a:rPr>
              <a:t>Write two improvement…</a:t>
            </a:r>
          </a:p>
        </p:txBody>
      </p:sp>
      <p:sp>
        <p:nvSpPr>
          <p:cNvPr id="40" name="TextBox 39"/>
          <p:cNvSpPr txBox="1"/>
          <p:nvPr/>
        </p:nvSpPr>
        <p:spPr>
          <a:xfrm>
            <a:off x="9683496" y="3703320"/>
            <a:ext cx="1636776" cy="1024128"/>
          </a:xfrm>
          <a:prstGeom prst="rect">
            <a:avLst/>
          </a:prstGeom>
          <a:noFill/>
        </p:spPr>
        <p:txBody>
          <a:bodyPr wrap="square" anchor="t">
            <a:spAutoFit/>
          </a:bodyPr>
          <a:lstStyle/>
          <a:p>
            <a:pPr algn="ctr">
              <a:spcAft>
                <a:spcPts val="0"/>
              </a:spcAft>
            </a:pPr>
            <a:r>
              <a:rPr sz="850" b="0">
                <a:solidFill>
                  <a:srgbClr val="5B6372"/>
                </a:solidFill>
                <a:latin typeface="Arial"/>
              </a:rPr>
              <a:t>Write two improvement recommendations for the agent based on what you observed, and state what…</a:t>
            </a:r>
          </a:p>
        </p:txBody>
      </p:sp>
      <p:sp>
        <p:nvSpPr>
          <p:cNvPr id="41" name="Rectangle 40"/>
          <p:cNvSpPr/>
          <p:nvPr/>
        </p:nvSpPr>
        <p:spPr>
          <a:xfrm>
            <a:off x="777240" y="512978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2978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23951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55040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Outcome: An agent that writes a real Facility Request row to Dataverse through a flow, published to a channel, plus a completed integration fault log.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Add a Tool, Publish the Agent and Resolve Integration Issues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 completed conversation in the published channel creates a real row in the Facility Request table, and your fault log records at least two induced failures with the error text, root cause and the verified fix for each.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tool does not appear in Copilot Studio</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flow must be in the same environment and saved. Refresh the tool list, and check the flow's solution is in the agent's environment.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flow runs but no row is created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required Dataverse column is unmapped. Open the flow run history and read the Add a new row step's inputs.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Published agent shows an old version</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Changes require a fresh Publish. Publish again and hard-refresh the channel link.</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Power Virtual Agents / Copilot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Power Virtual Agents is now Microsoft Copilot Studio — the concepts are unchanged.</a:t>
            </a:r>
          </a:p>
          <a:p>
            <a:pPr>
              <a:spcAft>
                <a:spcPts val="1000"/>
              </a:spcAft>
            </a:pPr>
            <a:r>
              <a:rPr sz="1600" b="0">
                <a:solidFill>
                  <a:srgbClr val="161B26"/>
                </a:solidFill>
                <a:latin typeface="Arial"/>
              </a:rPr>
              <a:t>•  Topics are authored, deterministic paths started by trigger phrases.</a:t>
            </a:r>
          </a:p>
          <a:p>
            <a:pPr>
              <a:spcAft>
                <a:spcPts val="1000"/>
              </a:spcAft>
            </a:pPr>
            <a:r>
              <a:rPr sz="1600" b="0">
                <a:solidFill>
                  <a:srgbClr val="161B26"/>
                </a:solidFill>
                <a:latin typeface="Arial"/>
              </a:rPr>
              <a:t>•  Knowledge sources answer the long tail generatively from grounded content.</a:t>
            </a:r>
          </a:p>
          <a:p>
            <a:pPr>
              <a:spcAft>
                <a:spcPts val="1000"/>
              </a:spcAft>
            </a:pPr>
            <a:r>
              <a:rPr sz="1600" b="0">
                <a:solidFill>
                  <a:srgbClr val="161B26"/>
                </a:solidFill>
                <a:latin typeface="Arial"/>
              </a:rPr>
              <a:t>•  Tools — flows, connectors, MCP servers and agent flows — let the agent take real action.</a:t>
            </a:r>
          </a:p>
          <a:p>
            <a:pPr>
              <a:spcAft>
                <a:spcPts val="1000"/>
              </a:spcAft>
            </a:pPr>
            <a:r>
              <a:rPr sz="1600" b="0">
                <a:solidFill>
                  <a:srgbClr val="161B26"/>
                </a:solidFill>
                <a:latin typeface="Arial"/>
              </a:rPr>
              <a:t>•  Publish to a channel such as Teams or a website; changes are not live until you publish.</a:t>
            </a:r>
          </a:p>
          <a:p>
            <a:pPr>
              <a:spcAft>
                <a:spcPts val="1000"/>
              </a:spcAft>
            </a:pPr>
            <a:r>
              <a:rPr sz="1600" b="0">
                <a:solidFill>
                  <a:srgbClr val="161B26"/>
                </a:solidFill>
                <a:latin typeface="Arial"/>
              </a:rPr>
              <a:t>•  Diagnose failures from the symptom, fix the root cause, then verify and measure with analytics.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ACHIEVED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1 · Business value</a:t>
            </a:r>
          </a:p>
          <a:p>
            <a:pPr algn="l">
              <a:spcAft>
                <a:spcPts val="300"/>
              </a:spcAft>
            </a:pPr>
            <a:r>
              <a:rPr sz="1100" b="0">
                <a:solidFill>
                  <a:srgbClr val="5B6372"/>
                </a:solidFill>
                <a:latin typeface="Arial"/>
              </a:rPr>
              <a:t>Assessed integration opportunities and selected connectors for Contoso.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2 · Dataverse</a:t>
            </a:r>
          </a:p>
          <a:p>
            <a:pPr algn="l">
              <a:spcAft>
                <a:spcPts val="300"/>
              </a:spcAft>
            </a:pPr>
            <a:r>
              <a:rPr sz="1100" b="0">
                <a:solidFill>
                  <a:srgbClr val="5B6372"/>
                </a:solidFill>
                <a:latin typeface="Arial"/>
              </a:rPr>
              <a:t>Built a data model with relationships, and governed it with DLP and solutions.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3 · Power Apps</a:t>
            </a:r>
          </a:p>
          <a:p>
            <a:pPr algn="l">
              <a:spcAft>
                <a:spcPts val="300"/>
              </a:spcAft>
            </a:pPr>
            <a:r>
              <a:rPr sz="1100" b="0">
                <a:solidFill>
                  <a:srgbClr val="5B6372"/>
                </a:solidFill>
                <a:latin typeface="Arial"/>
              </a:rPr>
              <a:t>Built a canvas app and a model-driven app on the same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4 · Power Automate</a:t>
            </a:r>
          </a:p>
          <a:p>
            <a:pPr algn="l">
              <a:spcAft>
                <a:spcPts val="300"/>
              </a:spcAft>
            </a:pPr>
            <a:r>
              <a:rPr sz="1100" b="0">
                <a:solidFill>
                  <a:srgbClr val="5B6372"/>
                </a:solidFill>
                <a:latin typeface="Arial"/>
              </a:rPr>
              <a:t>Automated notification and approval, then tested and fixed the flows.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5 · Power BI</a:t>
            </a:r>
          </a:p>
          <a:p>
            <a:pPr algn="l">
              <a:spcAft>
                <a:spcPts val="300"/>
              </a:spcAft>
            </a:pPr>
            <a:r>
              <a:rPr sz="1100" b="0">
                <a:solidFill>
                  <a:srgbClr val="5B6372"/>
                </a:solidFill>
                <a:latin typeface="Arial"/>
              </a:rPr>
              <a:t>Cleaned a messy export, modelled it, and published a verified dashboard.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Topic 6 · Copilot Studio</a:t>
            </a:r>
          </a:p>
          <a:p>
            <a:pPr algn="l">
              <a:spcAft>
                <a:spcPts val="300"/>
              </a:spcAft>
            </a:pPr>
            <a:r>
              <a:rPr sz="1100" b="0">
                <a:solidFill>
                  <a:srgbClr val="5B6372"/>
                </a:solidFill>
                <a:latin typeface="Arial"/>
              </a:rPr>
              <a:t>Built, integrated, published and troubleshot a working agent.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Preparing for the PL-900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Redo the labs</a:t>
            </a:r>
          </a:p>
          <a:p>
            <a:pPr algn="l">
              <a:spcAft>
                <a:spcPts val="300"/>
              </a:spcAft>
            </a:pPr>
            <a:r>
              <a:rPr sz="1100" b="0">
                <a:solidFill>
                  <a:srgbClr val="5B6372"/>
                </a:solidFill>
                <a:latin typeface="Arial"/>
              </a:rPr>
              <a:t>Repeat each lab without the guide until the maker portals feel familiar.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 the comparisons</a:t>
            </a:r>
          </a:p>
          <a:p>
            <a:pPr algn="l">
              <a:spcAft>
                <a:spcPts val="300"/>
              </a:spcAft>
            </a:pPr>
            <a:r>
              <a:rPr sz="1100" b="0">
                <a:solidFill>
                  <a:srgbClr val="5B6372"/>
                </a:solidFill>
                <a:latin typeface="Arial"/>
              </a:rPr>
              <a:t>Canvas vs model-driven, cloud vs desktop flow, report vs dashboard.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 the terminology</a:t>
            </a:r>
          </a:p>
          <a:p>
            <a:pPr algn="l">
              <a:spcAft>
                <a:spcPts val="300"/>
              </a:spcAft>
            </a:pPr>
            <a:r>
              <a:rPr sz="1100" b="0">
                <a:solidFill>
                  <a:srgbClr val="5B6372"/>
                </a:solidFill>
                <a:latin typeface="Arial"/>
              </a:rPr>
              <a:t>Table, column, row, relationship, environment, solution, topic, tool.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Practise scenarios</a:t>
            </a:r>
          </a:p>
          <a:p>
            <a:pPr algn="l">
              <a:spcAft>
                <a:spcPts val="300"/>
              </a:spcAft>
            </a:pPr>
            <a:r>
              <a:rPr sz="1100" b="0">
                <a:solidFill>
                  <a:srgbClr val="5B6372"/>
                </a:solidFill>
                <a:latin typeface="Arial"/>
              </a:rPr>
              <a:t>The exam describes a business situation and asks which service fits.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Use the Microsoft practice assessment</a:t>
            </a:r>
          </a:p>
          <a:p>
            <a:pPr algn="l">
              <a:spcAft>
                <a:spcPts val="300"/>
              </a:spcAft>
            </a:pPr>
            <a:r>
              <a:rPr sz="1100" b="0">
                <a:solidFill>
                  <a:srgbClr val="5B6372"/>
                </a:solidFill>
                <a:latin typeface="Arial"/>
              </a:rPr>
              <a:t>Free, and closest in style to the real exam.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Book the exam</a:t>
            </a:r>
          </a:p>
          <a:p>
            <a:pPr algn="l">
              <a:spcAft>
                <a:spcPts val="300"/>
              </a:spcAft>
            </a:pPr>
            <a:r>
              <a:rPr sz="1100" b="0">
                <a:solidFill>
                  <a:srgbClr val="5B6372"/>
                </a:solidFill>
                <a:latin typeface="Arial"/>
              </a:rPr>
              <a:t>Through Pearson VUE or online proctoring via Microsoft Learn.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TEST YOURSELF  ·  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1 · Open the practice exam</a:t>
            </a:r>
          </a:p>
          <a:p>
            <a:pPr algn="l">
              <a:spcAft>
                <a:spcPts val="300"/>
              </a:spcAft>
            </a:pPr>
            <a:r>
              <a:rPr sz="1100" b="0">
                <a:solidFill>
                  <a:srgbClr val="5B6372"/>
                </a:solidFill>
                <a:latin typeface="Arial"/>
              </a:rPr>
              <a:t>Go to https://exams.tertiaryinfotech.com/practice-exams/microsoft/microsoft-pl-900</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2 · Sit it under exam conditions</a:t>
            </a:r>
          </a:p>
          <a:p>
            <a:pPr algn="l">
              <a:spcAft>
                <a:spcPts val="300"/>
              </a:spcAft>
            </a:pPr>
            <a:r>
              <a:rPr sz="1100" b="0">
                <a:solidFill>
                  <a:srgbClr val="5B6372"/>
                </a:solidFill>
                <a:latin typeface="Arial"/>
              </a:rPr>
              <a:t>Time yourself and work without the slides or Learner Guide.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3 · Review every explanation</a:t>
            </a:r>
          </a:p>
          <a:p>
            <a:pPr algn="l">
              <a:spcAft>
                <a:spcPts val="300"/>
              </a:spcAft>
            </a:pPr>
            <a:r>
              <a:rPr sz="1100" b="0">
                <a:solidFill>
                  <a:srgbClr val="5B6372"/>
                </a:solidFill>
                <a:latin typeface="Arial"/>
              </a:rPr>
              <a:t>Read the rationale for the questions you got wrong AND right.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4 · Revisit the weak topic</a:t>
            </a:r>
          </a:p>
          <a:p>
            <a:pPr algn="l">
              <a:spcAft>
                <a:spcPts val="300"/>
              </a:spcAft>
            </a:pPr>
            <a:r>
              <a:rPr sz="1100" b="0">
                <a:solidFill>
                  <a:srgbClr val="5B6372"/>
                </a:solidFill>
                <a:latin typeface="Arial"/>
              </a:rPr>
              <a:t>Go back to that topic's slides and redo its lab.</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5 · Re-take it</a:t>
            </a:r>
          </a:p>
          <a:p>
            <a:pPr algn="l">
              <a:spcAft>
                <a:spcPts val="300"/>
              </a:spcAft>
            </a:pPr>
            <a:r>
              <a:rPr sz="1100" b="0">
                <a:solidFill>
                  <a:srgbClr val="5B6372"/>
                </a:solidFill>
                <a:latin typeface="Arial"/>
              </a:rPr>
              <a:t>Repeat until you are consistently comfortable across all six topics.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6 · Then book the real exam</a:t>
            </a:r>
          </a:p>
          <a:p>
            <a:pPr algn="l">
              <a:spcAft>
                <a:spcPts val="300"/>
              </a:spcAft>
            </a:pPr>
            <a:r>
              <a:rPr sz="1100" b="0">
                <a:solidFill>
                  <a:srgbClr val="5B6372"/>
                </a:solidFill>
                <a:latin typeface="Arial"/>
              </a:rPr>
              <a:t>Purchase an exam voucher from Tertiary Infotech if you need 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YOUR LEARNING PATH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Next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PL-300</a:t>
            </a:r>
          </a:p>
          <a:p>
            <a:r>
              <a:rPr sz="1500" b="1">
                <a:latin typeface="Arial"/>
              </a:rPr>
              <a:t>Microsoft Power BI Data Analyst Associate — the deep dive into analytics.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PL-200</a:t>
            </a:r>
          </a:p>
          <a:p>
            <a:r>
              <a:rPr sz="1500" b="1">
                <a:latin typeface="Arial"/>
              </a:rPr>
              <a:t>Microsoft Power Platform Functional Consultant — the next step up from PL-900.</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AI-102</a:t>
            </a:r>
          </a:p>
          <a:p>
            <a:r>
              <a:rPr sz="1500" b="1">
                <a:latin typeface="Arial"/>
              </a:rPr>
              <a:t>Microsoft Certified Azure AI Engineer Associate.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Copilot &amp; Power Apps</a:t>
            </a:r>
          </a:p>
          <a:p>
            <a:r>
              <a:rPr sz="1500" b="1">
                <a:latin typeface="Arial"/>
              </a:rPr>
              <a:t>Create Intelligent Power Apps and Power Automate Workflows with Copilot.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AZ-104</a:t>
            </a:r>
          </a:p>
          <a:p>
            <a:r>
              <a:rPr sz="1500" b="1">
                <a:latin typeface="Arial"/>
              </a:rPr>
              <a:t>Microsoft Certified Azure Administrator Associate.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DP-100</a:t>
            </a:r>
          </a:p>
          <a:p>
            <a:r>
              <a:rPr sz="1500" b="1">
                <a:latin typeface="Arial"/>
              </a:rPr>
              <a:t>Microsoft Azure Data Scientist Associate.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GO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Feedback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course feedback form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Tell us what worked and what we can improve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Your certificate of completion will be emailed to you</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Learner Guide and lab repository for reference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Reach out any time — we are here to help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IF YOU NEED US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Email</a:t>
            </a:r>
          </a:p>
          <a:p>
            <a:pPr algn="l">
              <a:spcAft>
                <a:spcPts val="300"/>
              </a:spcAft>
            </a:pPr>
            <a:r>
              <a:rPr sz="1100" b="0">
                <a:solidFill>
                  <a:srgbClr val="5B6372"/>
                </a:solidFill>
                <a:latin typeface="Arial"/>
              </a:rPr>
              <a:t>enquiry@tertiaryinfotech.com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Telephone</a:t>
            </a:r>
          </a:p>
          <a:p>
            <a:pPr algn="l">
              <a:spcAft>
                <a:spcPts val="300"/>
              </a:spcAft>
            </a:pPr>
            <a:r>
              <a:rPr sz="1100" b="0">
                <a:solidFill>
                  <a:srgbClr val="5B6372"/>
                </a:solidFill>
                <a:latin typeface="Arial"/>
              </a:rPr>
              <a:t>+65 6100 0613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Website</a:t>
            </a:r>
          </a:p>
          <a:p>
            <a:pPr algn="l">
              <a:spcAft>
                <a:spcPts val="300"/>
              </a:spcAft>
            </a:pPr>
            <a:r>
              <a:rPr sz="1100" b="0">
                <a:solidFill>
                  <a:srgbClr val="5B6372"/>
                </a:solidFill>
                <a:latin typeface="Arial"/>
              </a:rPr>
              <a:t>www.tertiarycourses.com.sg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LMS / TMS</a:t>
            </a:r>
          </a:p>
          <a:p>
            <a:pPr algn="l">
              <a:spcAft>
                <a:spcPts val="300"/>
              </a:spcAft>
            </a:pPr>
            <a:r>
              <a:rPr sz="1100" b="0">
                <a:solidFill>
                  <a:srgbClr val="5B6372"/>
                </a:solidFill>
                <a:latin typeface="Arial"/>
              </a:rPr>
              <a:t>https://lms-tms.tertiaryinfotech.com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Lab repository</a:t>
            </a:r>
          </a:p>
          <a:p>
            <a:r>
              <a:rPr sz="1500" b="1">
                <a:latin typeface="Arial"/>
              </a:rPr>
              <a:t>https://github.com/tertiarycourses/C1358-Microsoft-Power-Platform-Fundamentals-PL-900</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Microsoft Learn</a:t>
            </a:r>
          </a:p>
          <a:p>
            <a:pPr algn="l">
              <a:spcAft>
                <a:spcPts val="300"/>
              </a:spcAft>
            </a:pPr>
            <a:r>
              <a:rPr sz="1100" b="0">
                <a:solidFill>
                  <a:srgbClr val="5B6372"/>
                </a:solidFill>
                <a:latin typeface="Arial"/>
              </a:rPr>
              <a:t>https://learn.microsoft.com/credentials/certifications/power-platform-fundamentals/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identify integration opportunities, build apps, flows, reports and agents on the Power Platform — and you are ready to sit the PL-900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PL-900 Microsoft Power Platform Fundamentals Training  ·  C1358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